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ed Hat Display SemiBold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Red Hat Display Medium"/>
      <p:regular r:id="rId20"/>
      <p:bold r:id="rId21"/>
      <p:italic r:id="rId22"/>
      <p:boldItalic r:id="rId23"/>
    </p:embeddedFont>
    <p:embeddedFont>
      <p:font typeface="Red Hat Displ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Medium-regular.fntdata"/><Relationship Id="rId22" Type="http://schemas.openxmlformats.org/officeDocument/2006/relationships/font" Target="fonts/RedHatDisplayMedium-italic.fntdata"/><Relationship Id="rId21" Type="http://schemas.openxmlformats.org/officeDocument/2006/relationships/font" Target="fonts/RedHatDisplayMedium-bold.fntdata"/><Relationship Id="rId24" Type="http://schemas.openxmlformats.org/officeDocument/2006/relationships/font" Target="fonts/RedHatDisplay-regular.fntdata"/><Relationship Id="rId23" Type="http://schemas.openxmlformats.org/officeDocument/2006/relationships/font" Target="fonts/RedHatDisplay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-italic.fntdata"/><Relationship Id="rId25" Type="http://schemas.openxmlformats.org/officeDocument/2006/relationships/font" Target="fonts/RedHatDisplay-bold.fntdata"/><Relationship Id="rId27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edHatDisplaySemiBold-bold.fntdata"/><Relationship Id="rId12" Type="http://schemas.openxmlformats.org/officeDocument/2006/relationships/font" Target="fonts/RedHatDisplaySemiBold-regular.fntdata"/><Relationship Id="rId15" Type="http://schemas.openxmlformats.org/officeDocument/2006/relationships/font" Target="fonts/RedHatDisplaySemiBold-boldItalic.fntdata"/><Relationship Id="rId14" Type="http://schemas.openxmlformats.org/officeDocument/2006/relationships/font" Target="fonts/RedHatDisplaySemiBold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60d6cd60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60d6cd60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2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" name="Google Shape;57;p4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0" name="Google Shape;60;p4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4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4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" name="Google Shape;64;p4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67" name="Google Shape;67;p5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5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4" name="Google Shape;74;p5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6" name="Google Shape;76;p5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8" name="Google Shape;78;p5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5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80" name="Google Shape;80;p5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84" name="Google Shape;84;p6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" name="Google Shape;88;p6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6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95" name="Google Shape;95;p6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6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97" name="Google Shape;97;p6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6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99" name="Google Shape;99;p6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" name="Google Shape;100;p6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01" name="Google Shape;101;p6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6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03" name="Google Shape;103;p6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104" name="Google Shape;104;p6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105" name="Google Shape;105;p6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6" name="Google Shape;106;p6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107" name="Google Shape;107;p6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7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110" name="Google Shape;110;p7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83" name="Google Shape;183;p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07" name="Google Shape;207;p7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8" name="Google Shape;208;p7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5" name="Google Shape;225;p8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6" name="Google Shape;226;p8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9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9"/>
          <p:cNvCxnSpPr>
            <a:stCxn id="230" idx="1"/>
            <a:endCxn id="231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9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9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9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" name="Google Shape;235;p9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9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" name="Google Shape;237;p9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" name="Google Shape;238;p9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1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0"/>
          <p:cNvCxnSpPr>
            <a:stCxn id="242" idx="1"/>
            <a:endCxn id="243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46" name="Google Shape;246;p1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47" name="Google Shape;247;p1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9" name="Google Shape;249;p10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50" name="Google Shape;250;p1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253" name="Google Shape;253;p11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54" name="Google Shape;254;p11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55" name="Google Shape;255;p11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56" name="Google Shape;256;p11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57" name="Google Shape;257;p11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58" name="Google Shape;258;p11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1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60" name="Google Shape;260;p11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1" name="Google Shape;261;p11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62" name="Google Shape;262;p11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11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1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7467" l="0" r="17932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268" name="Google Shape;268;p12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69" name="Google Shape;269;p12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70" name="Google Shape;270;p12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71" name="Google Shape;271;p12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72" name="Google Shape;272;p12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73" name="Google Shape;273;p12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3"/>
          <p:cNvPicPr preferRelativeResize="0"/>
          <p:nvPr/>
        </p:nvPicPr>
        <p:blipFill rotWithShape="1">
          <a:blip r:embed="rId2">
            <a:alphaModFix/>
          </a:blip>
          <a:srcRect b="15068" l="14900" r="18071" t="15236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7" name="Google Shape;277;p13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278" name="Google Shape;278;p13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13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13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2" name="Google Shape;282;p13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3" name="Google Shape;283;p13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4" name="Google Shape;284;p13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5" name="Google Shape;285;p13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86" name="Google Shape;286;p13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15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92" name="Google Shape;292;p15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93" name="Google Shape;293;p15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294" name="Google Shape;294;p15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98" name="Google Shape;298;p15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99" name="Google Shape;299;p15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300" name="Google Shape;300;p15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03" name="Google Shape;303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4" name="Google Shape;304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5" name="Google Shape;305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06" name="Google Shape;306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07" name="Google Shape;307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08" name="Google Shape;308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09" name="Google Shape;309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10" name="Google Shape;310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11" name="Google Shape;311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12" name="Google Shape;312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13" name="Google Shape;313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14" name="Google Shape;314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7" name="Google Shape;317;p17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18" name="Google Shape;318;p17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9" name="Google Shape;319;p17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20" name="Google Shape;320;p17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1" name="Google Shape;321;p17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22" name="Google Shape;322;p17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23" name="Google Shape;323;p17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4" name="Google Shape;324;p17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25" name="Google Shape;325;p17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6" name="Google Shape;326;p17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29" name="Google Shape;329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0" name="Google Shape;330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1" name="Google Shape;331;p18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2" name="Google Shape;332;p18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3" name="Google Shape;333;p18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4" name="Google Shape;334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35" name="Google Shape;335;p18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36" name="Google Shape;336;p18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0" name="Google Shape;360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61" name="Google Shape;361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64" name="Google Shape;36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65" name="Google Shape;365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6" name="Google Shape;366;p19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67" name="Google Shape;367;p19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68" name="Google Shape;368;p19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69" name="Google Shape;369;p1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0" name="Google Shape;370;p1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1" name="Google Shape;371;p1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74" name="Google Shape;374;p20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5" name="Google Shape;375;p20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6" name="Google Shape;376;p20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7" name="Google Shape;377;p20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8" name="Google Shape;378;p20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79" name="Google Shape;379;p20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80" name="Google Shape;380;p20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81" name="Google Shape;381;p20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382" name="Google Shape;382;p20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3" name="Google Shape;383;p2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386" name="Google Shape;386;p2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7" name="Google Shape;387;p2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9" name="Google Shape;389;p21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0" name="Google Shape;390;p21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1" name="Google Shape;391;p21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2" name="Google Shape;392;p21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3" name="Google Shape;393;p21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4" name="Google Shape;394;p21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5" name="Google Shape;395;p21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6" name="Google Shape;396;p21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7" name="Google Shape;397;p21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8" name="Google Shape;398;p21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99" name="Google Shape;399;p21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0" name="Google Shape;400;p21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1" name="Google Shape;401;p21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2" name="Google Shape;402;p21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3" name="Google Shape;403;p21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1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5" name="Google Shape;405;p21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6" name="Google Shape;406;p21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7" name="Google Shape;407;p21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8" name="Google Shape;408;p21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9" name="Google Shape;409;p21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0" name="Google Shape;410;p21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1" name="Google Shape;411;p21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4" name="Google Shape;414;p22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9pPr>
          </a:lstStyle>
          <a:p/>
        </p:txBody>
      </p:sp>
      <p:sp>
        <p:nvSpPr>
          <p:cNvPr id="415" name="Google Shape;415;p22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6" name="Google Shape;416;p22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7" name="Google Shape;417;p22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8" name="Google Shape;418;p22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0" name="Google Shape;420;p22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21" name="Google Shape;421;p22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22" name="Google Shape;422;p22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423" name="Google Shape;423;p22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6" name="Google Shape;426;p23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27" name="Google Shape;427;p23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3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29" name="Google Shape;429;p23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0" name="Google Shape;430;p23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1" name="Google Shape;431;p23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2" name="Google Shape;432;p23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33" name="Google Shape;433;p23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0" name="Google Shape;450;p24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24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53" name="Google Shape;453;p24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55" name="Google Shape;455;p24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56" name="Google Shape;456;p24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b="0" i="0" sz="10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b="0" i="0" sz="2400" u="none" cap="none" strike="noStrike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b="0" i="0" sz="9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28600" y="2016827"/>
            <a:ext cx="67947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500"/>
              <a:t>PreCrash: Predictive Collision-intelligence system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400">
                <a:solidFill>
                  <a:schemeClr val="dk2"/>
                </a:solidFill>
              </a:rPr>
              <a:t>H26SCT03</a:t>
            </a:r>
            <a:endParaRPr sz="4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>
                <a:solidFill>
                  <a:schemeClr val="dk2"/>
                </a:solidFill>
              </a:rPr>
              <a:t>Krishnaswamy K V(LEAD) || Monishwar B || Manoranjan V S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7145151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2026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Chennai Institute of Technology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6" name="Google Shape;556;p44"/>
          <p:cNvSpPr txBox="1"/>
          <p:nvPr>
            <p:ph type="title"/>
          </p:nvPr>
        </p:nvSpPr>
        <p:spPr>
          <a:xfrm>
            <a:off x="0" y="87750"/>
            <a:ext cx="50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Problem Statement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44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2026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8" name="Google Shape;558;p44"/>
          <p:cNvSpPr txBox="1"/>
          <p:nvPr/>
        </p:nvSpPr>
        <p:spPr>
          <a:xfrm>
            <a:off x="156300" y="1109013"/>
            <a:ext cx="88314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Problem</a:t>
            </a:r>
            <a:endParaRPr b="1"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CCTV systems only record accidents — they don't prevent them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Traffic monitoring can't predict collisions in real time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integrated AI system links detection, prediction, risk assessment &amp; emergency response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Our Objectives</a:t>
            </a:r>
            <a:endParaRPr b="1"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Detect &amp; track road hazards in real time from live camera feeds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Predict collision risk before impact via motion forecasting + fuzzy risk scoring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mic Sans M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Automate the response — from near-miss logging to hospital dispatch</a:t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 txBox="1"/>
          <p:nvPr>
            <p:ph type="title"/>
          </p:nvPr>
        </p:nvSpPr>
        <p:spPr>
          <a:xfrm>
            <a:off x="445800" y="219375"/>
            <a:ext cx="6357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Existing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Solutions and </a:t>
            </a:r>
            <a:r>
              <a:rPr lang="en">
                <a:solidFill>
                  <a:schemeClr val="dk2"/>
                </a:solidFill>
              </a:rPr>
              <a:t>Identified Gaps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4" name="Google Shape;564;p45"/>
          <p:cNvSpPr txBox="1"/>
          <p:nvPr/>
        </p:nvSpPr>
        <p:spPr>
          <a:xfrm>
            <a:off x="66675" y="1801825"/>
            <a:ext cx="89154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Existing Solutions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CCTV surveillance — passively records footage for post-incident review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Traffic monitoring systems — track flow and violations, not collision risk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Vehicle-level ADAS / collision-warning — limited to a single vehicle, no city-wide view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Identified Gaps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lt1"/>
                </a:solidFill>
              </a:rPr>
              <a:t>They are </a:t>
            </a: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Reactive, not </a:t>
            </a:r>
            <a:r>
              <a:rPr b="0" i="0" lang="en" sz="1400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predictive</a:t>
            </a:r>
            <a:r>
              <a:rPr lang="en">
                <a:solidFill>
                  <a:schemeClr val="lt1"/>
                </a:solidFill>
              </a:rPr>
              <a:t>. So, </a:t>
            </a: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systems confirm a crash after it happens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real-time collision-risk prediction from live video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Near-miss events, the earliest warning signs, go undetected and unanalyzed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single system unifying detection, prediction, and automated emergency response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0" name="Google Shape;570;p46"/>
          <p:cNvSpPr txBox="1"/>
          <p:nvPr>
            <p:ph type="title"/>
          </p:nvPr>
        </p:nvSpPr>
        <p:spPr>
          <a:xfrm>
            <a:off x="274325" y="137600"/>
            <a:ext cx="50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 Design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46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2026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72" name="Google Shape;572;p46" title="Block_diagr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900" y="327325"/>
            <a:ext cx="2992553" cy="448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6" title="WhatsApp Image 2026-07-31 at 15.52.27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00" y="876500"/>
            <a:ext cx="4344406" cy="396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7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9" name="Google Shape;579;p47"/>
          <p:cNvSpPr txBox="1"/>
          <p:nvPr>
            <p:ph type="title"/>
          </p:nvPr>
        </p:nvSpPr>
        <p:spPr>
          <a:xfrm>
            <a:off x="190200" y="228600"/>
            <a:ext cx="739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Implementation Progress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47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2026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1" name="Google Shape;581;p47"/>
          <p:cNvSpPr txBox="1"/>
          <p:nvPr/>
        </p:nvSpPr>
        <p:spPr>
          <a:xfrm>
            <a:off x="228600" y="1117288"/>
            <a:ext cx="8831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Pipeline Stages Completed</a:t>
            </a:r>
            <a:endParaRPr b="1"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Camera ingestion — live video feed capture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YOLOv8 object detection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ByteTrack multi-object tracking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Temporal motion forecasting (trajectory history)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Scene understanding (relative motion, heading, distance)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Fuzzy Risk Assessment Engine (normalized multi-factor risk score)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Manager (risk-tier routing)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Near-Miss Ledger (interaction logging)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Collision Confidence Engine (multi-signal fused check)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Capability-aware Response Planner (severity to hospital match + ETA)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omic Sans MS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Remaining / In Progress</a:t>
            </a:r>
            <a:endParaRPr b="1"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mic Sans MS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LLM Decision &amp; Communication Engine and the live Dashboard — screenshots/demo to be added</a:t>
            </a:r>
            <a:endParaRPr b="0" i="0" sz="1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8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7" name="Google Shape;587;p48"/>
          <p:cNvSpPr txBox="1"/>
          <p:nvPr>
            <p:ph type="title"/>
          </p:nvPr>
        </p:nvSpPr>
        <p:spPr>
          <a:xfrm>
            <a:off x="190200" y="228600"/>
            <a:ext cx="739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Implementation Progress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48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2026</a:t>
            </a:r>
            <a:endParaRPr b="0" i="0" sz="800" u="none" cap="none" strike="noStrike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89" name="Google Shape;589;p48" title="Screenshot 2026-07-31 1421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75" y="967500"/>
            <a:ext cx="3759927" cy="193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8" title="Screenshot 2026-07-31 1422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166" y="900925"/>
            <a:ext cx="3868572" cy="19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8" title="Screenshot 2026-07-31 1532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663" y="3081524"/>
            <a:ext cx="3671744" cy="188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8" title="Screenshot 2026-07-31 1344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899" y="3024200"/>
            <a:ext cx="3274292" cy="20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