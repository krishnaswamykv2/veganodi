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Urbanist Medium"/>
      <p:regular r:id="rId16"/>
      <p:bold r:id="rId17"/>
      <p:italic r:id="rId18"/>
      <p:boldItalic r:id="rId19"/>
    </p:embeddedFont>
    <p:embeddedFont>
      <p:font typeface="Urbanist SemiBold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  <p:embeddedFont>
      <p:font typeface="Urbanist ExtraBold"/>
      <p:bold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regular.fntdata"/><Relationship Id="rId22" Type="http://schemas.openxmlformats.org/officeDocument/2006/relationships/font" Target="fonts/UrbanistSemiBold-italic.fntdata"/><Relationship Id="rId21" Type="http://schemas.openxmlformats.org/officeDocument/2006/relationships/font" Target="fonts/UrbanistSemiBold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Urbanist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8" Type="http://schemas.openxmlformats.org/officeDocument/2006/relationships/font" Target="fonts/UrbanistExtraBold-bold.fntdata"/><Relationship Id="rId27" Type="http://schemas.openxmlformats.org/officeDocument/2006/relationships/font" Target="fonts/Urbani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UrbanistExtra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Medium-bold.fntdata"/><Relationship Id="rId16" Type="http://schemas.openxmlformats.org/officeDocument/2006/relationships/font" Target="fonts/UrbanistMedium-regular.fntdata"/><Relationship Id="rId19" Type="http://schemas.openxmlformats.org/officeDocument/2006/relationships/font" Target="fonts/UrbanistMedium-boldItalic.fntdata"/><Relationship Id="rId18" Type="http://schemas.openxmlformats.org/officeDocument/2006/relationships/font" Target="fonts/Urbanist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f97f3fe9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f97f3fe9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f97f3fe9f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f97f3fe9f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f97f3fe9f8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f97f3fe9f8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f97f3fe9f8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f97f3fe9f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f97f3fe9f8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f97f3fe9f8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97f3fe9f8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f97f3fe9f8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f97f3fe9f8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f97f3fe9f8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f97f3fe9f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3f97f3fe9f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f97f3fe9f8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3f97f3fe9f8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f97f3fe9f8_0_23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3f97f3fe9f8_0_23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8" name="Google Shape;68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4" name="Google Shape;104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7" name="Google Shape;107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0" name="Google Shape;110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5" name="Google Shape;145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" name="Google Shape;148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9" name="Google Shape;149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3" name="Google Shape;153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1" name="Google Shape;161;p11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4" name="Google Shape;204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2" name="Google Shape;252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1" name="Google Shape;291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3" name="Google Shape;293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4" name="Google Shape;294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5" name="Google Shape;295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5" name="Google Shape;325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8" name="Google Shape;328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" name="Google Shape;35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 1">
  <p:cSld name="Agenda ALT 1 (g3f97f3fe9f8_7_0)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5" name="Google Shape;435;p4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6" name="Google Shape;436;p4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7" name="Google Shape;437;p41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8" name="Google Shape;438;p41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9" name="Google Shape;439;p41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0" name="Google Shape;440;p41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1" name="Google Shape;441;p41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2" name="Google Shape;442;p41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3" name="Google Shape;443;p41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4" name="Google Shape;444;p41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5" name="Google Shape;445;p41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6" name="Google Shape;446;p41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7" name="Google Shape;447;p41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8" name="Google Shape;448;p41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9" name="Google Shape;449;p41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 1">
  <p:cSld name="Title and images (g3f97f3fe9f8_16_0)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2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452" name="Google Shape;452;p42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53" name="Google Shape;453;p4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54" name="Google Shape;454;p4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55" name="Google Shape;455;p4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56" name="Google Shape;456;p42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57" name="Google Shape;457;p42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58" name="Google Shape;458;p42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459" name="Google Shape;459;p42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60" name="Google Shape;460;p42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61" name="Google Shape;461;p42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462" name="Google Shape;462;p42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63" name="Google Shape;463;p42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64" name="Google Shape;464;p42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465" name="Google Shape;465;p42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66" name="Google Shape;466;p42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67" name="Google Shape;467;p42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468" name="Google Shape;468;p42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69" name="Google Shape;469;p42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70" name="Google Shape;470;p42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471" name="Google Shape;471;p42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72" name="Google Shape;472;p42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 1">
  <p:cSld name="Cards w/ images (g3f97f3fe9f8_46_0)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3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75" name="Google Shape;475;p43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76" name="Google Shape;476;p43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77" name="Google Shape;477;p43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478" name="Google Shape;478;p43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79" name="Google Shape;479;p43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80" name="Google Shape;480;p43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481" name="Google Shape;481;p43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482" name="Google Shape;482;p43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83" name="Google Shape;483;p43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84" name="Google Shape;484;p43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485" name="Google Shape;485;p43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486" name="Google Shape;486;p43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87" name="Google Shape;487;p43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88" name="Google Shape;488;p43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489" name="Google Shape;489;p43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490" name="Google Shape;490;p43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91" name="Google Shape;491;p43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92" name="Google Shape;492;p43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 1">
  <p:cSld name="Main point ALT 2 (g3f97f3fe9f8_62_0)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4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495" name="Google Shape;495;p44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496" name="Google Shape;496;p44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97" name="Google Shape;497;p4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98" name="Google Shape;498;p4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99" name="Google Shape;499;p4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 1">
  <p:cSld name="Title, body and image ALT 1 (g3f97f3fe9f8_69_0)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5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2" name="Google Shape;502;p45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45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45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45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506" name="Google Shape;506;p45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07" name="Google Shape;507;p45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08" name="Google Shape;508;p45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09" name="Google Shape;509;p45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 1">
  <p:cSld name="Short big title and body (g3f97f3fe9f8_158_0)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12" name="Google Shape;512;p4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13" name="Google Shape;513;p4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14" name="Google Shape;514;p4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15" name="Google Shape;515;p46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 1">
  <p:cSld name="Metrics  (g3f97f3fe9f8_186_0)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18" name="Google Shape;518;p4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19" name="Google Shape;519;p4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20" name="Google Shape;520;p47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1" name="Google Shape;521;p47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522" name="Google Shape;522;p47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3" name="Google Shape;523;p47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4" name="Google Shape;524;p47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525" name="Google Shape;525;p47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526" name="Google Shape;526;p47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7" name="Google Shape;527;p47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8" name="Google Shape;528;p47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9" name="Google Shape;529;p47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 1">
  <p:cSld name="Our values (g3f97f3fe9f8_218_0)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8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32" name="Google Shape;532;p48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3" name="Google Shape;533;p4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34" name="Google Shape;534;p4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35" name="Google Shape;535;p4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36" name="Google Shape;536;p48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37" name="Google Shape;537;p48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38" name="Google Shape;538;p48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39" name="Google Shape;539;p48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40" name="Google Shape;540;p48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41" name="Google Shape;541;p48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8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47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9"/>
          <p:cNvSpPr txBox="1"/>
          <p:nvPr>
            <p:ph type="title"/>
          </p:nvPr>
        </p:nvSpPr>
        <p:spPr>
          <a:xfrm>
            <a:off x="419100" y="381000"/>
            <a:ext cx="4000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VEGANODI</a:t>
            </a:r>
            <a:endParaRPr b="1" sz="360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47" name="Google Shape;547;p49"/>
          <p:cNvSpPr txBox="1"/>
          <p:nvPr>
            <p:ph idx="8" type="subTitle"/>
          </p:nvPr>
        </p:nvSpPr>
        <p:spPr>
          <a:xfrm>
            <a:off x="419100" y="952500"/>
            <a:ext cx="4000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Team Details</a:t>
            </a:r>
            <a:endParaRPr b="1" sz="12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548" name="Google Shape;548;p49"/>
          <p:cNvGrpSpPr/>
          <p:nvPr/>
        </p:nvGrpSpPr>
        <p:grpSpPr>
          <a:xfrm>
            <a:off x="2524125" y="1428750"/>
            <a:ext cx="1952700" cy="857400"/>
            <a:chOff x="0" y="0"/>
            <a:chExt cx="1952700" cy="857400"/>
          </a:xfrm>
        </p:grpSpPr>
        <p:sp>
          <p:nvSpPr>
            <p:cNvPr id="549" name="Google Shape;549;p49"/>
            <p:cNvSpPr/>
            <p:nvPr/>
          </p:nvSpPr>
          <p:spPr>
            <a:xfrm>
              <a:off x="0" y="0"/>
              <a:ext cx="1952700" cy="857400"/>
            </a:xfrm>
            <a:prstGeom prst="roundRect">
              <a:avLst>
                <a:gd fmla="val 6666" name="adj"/>
              </a:avLst>
            </a:prstGeom>
            <a:solidFill>
              <a:srgbClr val="0A0A0A"/>
            </a:solidFill>
            <a:ln cap="flat" cmpd="sng" w="9525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49"/>
            <p:cNvSpPr/>
            <p:nvPr/>
          </p:nvSpPr>
          <p:spPr>
            <a:xfrm>
              <a:off x="0" y="142875"/>
              <a:ext cx="28500" cy="571500"/>
            </a:xfrm>
            <a:prstGeom prst="roundRect">
              <a:avLst>
                <a:gd fmla="val 50000" name="adj"/>
              </a:avLst>
            </a:prstGeom>
            <a:solidFill>
              <a:srgbClr val="DEFF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49"/>
            <p:cNvSpPr txBox="1"/>
            <p:nvPr/>
          </p:nvSpPr>
          <p:spPr>
            <a:xfrm>
              <a:off x="142875" y="0"/>
              <a:ext cx="1714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College</a:t>
              </a:r>
              <a:endParaRPr b="1" sz="13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lt1"/>
                  </a:solidFill>
                  <a:latin typeface="Urbanist"/>
                  <a:ea typeface="Urbanist"/>
                  <a:cs typeface="Urbanist"/>
                  <a:sym typeface="Urbanist"/>
                </a:rPr>
                <a:t>Chennai Institute of Technology</a:t>
              </a:r>
              <a:endParaRPr b="1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552" name="Google Shape;552;p49"/>
          <p:cNvGrpSpPr/>
          <p:nvPr/>
        </p:nvGrpSpPr>
        <p:grpSpPr>
          <a:xfrm>
            <a:off x="419100" y="2428875"/>
            <a:ext cx="4057800" cy="857400"/>
            <a:chOff x="0" y="0"/>
            <a:chExt cx="4057800" cy="857400"/>
          </a:xfrm>
        </p:grpSpPr>
        <p:sp>
          <p:nvSpPr>
            <p:cNvPr id="553" name="Google Shape;553;p49"/>
            <p:cNvSpPr/>
            <p:nvPr/>
          </p:nvSpPr>
          <p:spPr>
            <a:xfrm>
              <a:off x="0" y="0"/>
              <a:ext cx="4057800" cy="857400"/>
            </a:xfrm>
            <a:prstGeom prst="roundRect">
              <a:avLst>
                <a:gd fmla="val 6666" name="adj"/>
              </a:avLst>
            </a:prstGeom>
            <a:solidFill>
              <a:srgbClr val="0A0A0A"/>
            </a:solidFill>
            <a:ln cap="flat" cmpd="sng" w="9525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49"/>
            <p:cNvSpPr/>
            <p:nvPr/>
          </p:nvSpPr>
          <p:spPr>
            <a:xfrm>
              <a:off x="0" y="142875"/>
              <a:ext cx="28500" cy="571500"/>
            </a:xfrm>
            <a:prstGeom prst="roundRect">
              <a:avLst>
                <a:gd fmla="val 50000" name="adj"/>
              </a:avLst>
            </a:prstGeom>
            <a:solidFill>
              <a:srgbClr val="DEFF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49"/>
            <p:cNvSpPr txBox="1"/>
            <p:nvPr/>
          </p:nvSpPr>
          <p:spPr>
            <a:xfrm>
              <a:off x="142875" y="0"/>
              <a:ext cx="3771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Project Title</a:t>
              </a:r>
              <a:endParaRPr b="1" sz="13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300">
                  <a:solidFill>
                    <a:schemeClr val="lt1"/>
                  </a:solidFill>
                  <a:latin typeface="Urbanist"/>
                  <a:ea typeface="Urbanist"/>
                  <a:cs typeface="Urbanist"/>
                  <a:sym typeface="Urbanist"/>
                </a:rPr>
                <a:t>VEGANODI-Confidence-Gated Golden-Hour Response Intelligence </a:t>
              </a:r>
              <a:endParaRPr b="1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B0B0B0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</p:grpSp>
      <p:grpSp>
        <p:nvGrpSpPr>
          <p:cNvPr id="556" name="Google Shape;556;p49"/>
          <p:cNvGrpSpPr/>
          <p:nvPr/>
        </p:nvGrpSpPr>
        <p:grpSpPr>
          <a:xfrm>
            <a:off x="2524125" y="3429000"/>
            <a:ext cx="1952700" cy="857400"/>
            <a:chOff x="0" y="0"/>
            <a:chExt cx="1952700" cy="857400"/>
          </a:xfrm>
        </p:grpSpPr>
        <p:sp>
          <p:nvSpPr>
            <p:cNvPr id="557" name="Google Shape;557;p49"/>
            <p:cNvSpPr/>
            <p:nvPr/>
          </p:nvSpPr>
          <p:spPr>
            <a:xfrm>
              <a:off x="0" y="0"/>
              <a:ext cx="1952700" cy="857400"/>
            </a:xfrm>
            <a:prstGeom prst="roundRect">
              <a:avLst>
                <a:gd fmla="val 6666" name="adj"/>
              </a:avLst>
            </a:prstGeom>
            <a:solidFill>
              <a:srgbClr val="0A0A0A"/>
            </a:solidFill>
            <a:ln cap="flat" cmpd="sng" w="9525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49"/>
            <p:cNvSpPr/>
            <p:nvPr/>
          </p:nvSpPr>
          <p:spPr>
            <a:xfrm>
              <a:off x="0" y="142875"/>
              <a:ext cx="28500" cy="571500"/>
            </a:xfrm>
            <a:prstGeom prst="roundRect">
              <a:avLst>
                <a:gd fmla="val 50000" name="adj"/>
              </a:avLst>
            </a:prstGeom>
            <a:solidFill>
              <a:srgbClr val="DEFF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49"/>
            <p:cNvSpPr txBox="1"/>
            <p:nvPr/>
          </p:nvSpPr>
          <p:spPr>
            <a:xfrm>
              <a:off x="142875" y="0"/>
              <a:ext cx="1714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Team Lead</a:t>
              </a:r>
              <a:endParaRPr b="1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lt1"/>
                  </a:solidFill>
                  <a:latin typeface="Urbanist"/>
                  <a:ea typeface="Urbanist"/>
                  <a:cs typeface="Urbanist"/>
                  <a:sym typeface="Urbanist"/>
                </a:rPr>
                <a:t>Krishnaswamy  KV</a:t>
              </a:r>
              <a:endPara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560" name="Google Shape;560;p49"/>
          <p:cNvGrpSpPr/>
          <p:nvPr/>
        </p:nvGrpSpPr>
        <p:grpSpPr>
          <a:xfrm>
            <a:off x="419100" y="3429000"/>
            <a:ext cx="1952700" cy="857400"/>
            <a:chOff x="0" y="0"/>
            <a:chExt cx="1952700" cy="857400"/>
          </a:xfrm>
        </p:grpSpPr>
        <p:sp>
          <p:nvSpPr>
            <p:cNvPr id="561" name="Google Shape;561;p49"/>
            <p:cNvSpPr/>
            <p:nvPr/>
          </p:nvSpPr>
          <p:spPr>
            <a:xfrm>
              <a:off x="0" y="0"/>
              <a:ext cx="1952700" cy="857400"/>
            </a:xfrm>
            <a:prstGeom prst="roundRect">
              <a:avLst>
                <a:gd fmla="val 6666" name="adj"/>
              </a:avLst>
            </a:prstGeom>
            <a:solidFill>
              <a:srgbClr val="0A0A0A"/>
            </a:solidFill>
            <a:ln cap="flat" cmpd="sng" w="9525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49"/>
            <p:cNvSpPr/>
            <p:nvPr/>
          </p:nvSpPr>
          <p:spPr>
            <a:xfrm>
              <a:off x="0" y="142875"/>
              <a:ext cx="28500" cy="571500"/>
            </a:xfrm>
            <a:prstGeom prst="roundRect">
              <a:avLst>
                <a:gd fmla="val 50000" name="adj"/>
              </a:avLst>
            </a:prstGeom>
            <a:solidFill>
              <a:srgbClr val="DEFF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49"/>
            <p:cNvSpPr txBox="1"/>
            <p:nvPr/>
          </p:nvSpPr>
          <p:spPr>
            <a:xfrm>
              <a:off x="142875" y="0"/>
              <a:ext cx="1714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Team Members</a:t>
              </a:r>
              <a:endParaRPr b="1" sz="12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lt1"/>
                  </a:solidFill>
                  <a:latin typeface="Urbanist"/>
                  <a:ea typeface="Urbanist"/>
                  <a:cs typeface="Urbanist"/>
                  <a:sym typeface="Urbanist"/>
                </a:rPr>
                <a:t>1.Monishwar  B</a:t>
              </a:r>
              <a:endParaRPr b="1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lt1"/>
                  </a:solidFill>
                  <a:latin typeface="Urbanist"/>
                  <a:ea typeface="Urbanist"/>
                  <a:cs typeface="Urbanist"/>
                  <a:sym typeface="Urbanist"/>
                </a:rPr>
                <a:t>2.Manoranjan VS</a:t>
              </a:r>
              <a:endParaRPr b="1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564" name="Google Shape;564;p49"/>
          <p:cNvGrpSpPr/>
          <p:nvPr/>
        </p:nvGrpSpPr>
        <p:grpSpPr>
          <a:xfrm>
            <a:off x="419100" y="1428750"/>
            <a:ext cx="1952700" cy="857400"/>
            <a:chOff x="0" y="0"/>
            <a:chExt cx="1952700" cy="857400"/>
          </a:xfrm>
        </p:grpSpPr>
        <p:sp>
          <p:nvSpPr>
            <p:cNvPr id="565" name="Google Shape;565;p49"/>
            <p:cNvSpPr/>
            <p:nvPr/>
          </p:nvSpPr>
          <p:spPr>
            <a:xfrm>
              <a:off x="0" y="0"/>
              <a:ext cx="1952700" cy="857400"/>
            </a:xfrm>
            <a:prstGeom prst="roundRect">
              <a:avLst>
                <a:gd fmla="val 6666" name="adj"/>
              </a:avLst>
            </a:prstGeom>
            <a:solidFill>
              <a:srgbClr val="0A0A0A"/>
            </a:solidFill>
            <a:ln cap="flat" cmpd="sng" w="9525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49"/>
            <p:cNvSpPr/>
            <p:nvPr/>
          </p:nvSpPr>
          <p:spPr>
            <a:xfrm>
              <a:off x="0" y="142875"/>
              <a:ext cx="28500" cy="571500"/>
            </a:xfrm>
            <a:prstGeom prst="roundRect">
              <a:avLst>
                <a:gd fmla="val 50000" name="adj"/>
              </a:avLst>
            </a:prstGeom>
            <a:solidFill>
              <a:srgbClr val="DEFF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49"/>
            <p:cNvSpPr txBox="1"/>
            <p:nvPr/>
          </p:nvSpPr>
          <p:spPr>
            <a:xfrm>
              <a:off x="142875" y="0"/>
              <a:ext cx="1714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Team ID</a:t>
              </a:r>
              <a:endParaRPr b="1" sz="12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lt1"/>
                  </a:solidFill>
                  <a:latin typeface="Urbanist"/>
                  <a:ea typeface="Urbanist"/>
                  <a:cs typeface="Urbanist"/>
                  <a:sym typeface="Urbanist"/>
                </a:rPr>
                <a:t>H26SCTO3</a:t>
              </a:r>
              <a:endParaRPr b="1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2" name="Google Shape;572;p5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3" name="Google Shape;573;p5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4" name="Google Shape;574;p5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5" name="Google Shape;575;p50"/>
          <p:cNvSpPr txBox="1"/>
          <p:nvPr>
            <p:ph type="title"/>
          </p:nvPr>
        </p:nvSpPr>
        <p:spPr>
          <a:xfrm>
            <a:off x="419100" y="381000"/>
            <a:ext cx="8305800" cy="41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Problem Statement</a:t>
            </a:r>
            <a:endParaRPr b="1" sz="32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576" name="Google Shape;576;p50"/>
          <p:cNvGrpSpPr/>
          <p:nvPr/>
        </p:nvGrpSpPr>
        <p:grpSpPr>
          <a:xfrm>
            <a:off x="419100" y="1143000"/>
            <a:ext cx="3810000" cy="3238500"/>
            <a:chOff x="0" y="0"/>
            <a:chExt cx="3810000" cy="3238500"/>
          </a:xfrm>
        </p:grpSpPr>
        <p:sp>
          <p:nvSpPr>
            <p:cNvPr id="577" name="Google Shape;577;p50"/>
            <p:cNvSpPr/>
            <p:nvPr/>
          </p:nvSpPr>
          <p:spPr>
            <a:xfrm>
              <a:off x="0" y="0"/>
              <a:ext cx="38100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50"/>
            <p:cNvSpPr txBox="1"/>
            <p:nvPr/>
          </p:nvSpPr>
          <p:spPr>
            <a:xfrm>
              <a:off x="0" y="0"/>
              <a:ext cx="3810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The Challenge</a:t>
              </a:r>
              <a:endParaRPr b="1" sz="1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Survival after a road crash is decided in the "golden hour" — but today the clock doesn't start until a bystander notices, reacts, and calls for help.</a:t>
              </a:r>
              <a:endParaRPr b="0" sz="125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" sz="115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Emergency response today is entirely human-triggered: someone has to witness the crash, judge its severity, find the right number, and describe the location — every step adds minutes.</a:t>
              </a:r>
              <a:endParaRPr sz="1150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" sz="115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No system currently watches, recognizes a crash the moment it happens, and starts the emergency chain on its own — ambulance, police, and hospital only learn about an incident after a human sets it in motion.</a:t>
              </a:r>
              <a:endParaRPr sz="1150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Every minute shaved off the notice-to-dispatch gap directly improves survival odds.</a:t>
              </a:r>
              <a:endParaRPr b="1" sz="12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579" name="Google Shape;579;p50"/>
          <p:cNvGrpSpPr/>
          <p:nvPr/>
        </p:nvGrpSpPr>
        <p:grpSpPr>
          <a:xfrm>
            <a:off x="4686300" y="1143000"/>
            <a:ext cx="4038600" cy="3238500"/>
            <a:chOff x="0" y="0"/>
            <a:chExt cx="4038600" cy="3238500"/>
          </a:xfrm>
        </p:grpSpPr>
        <p:sp>
          <p:nvSpPr>
            <p:cNvPr id="580" name="Google Shape;580;p50"/>
            <p:cNvSpPr/>
            <p:nvPr/>
          </p:nvSpPr>
          <p:spPr>
            <a:xfrm>
              <a:off x="0" y="0"/>
              <a:ext cx="40386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50"/>
            <p:cNvSpPr txBox="1"/>
            <p:nvPr/>
          </p:nvSpPr>
          <p:spPr>
            <a:xfrm>
              <a:off x="0" y="0"/>
              <a:ext cx="40386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Objectives</a:t>
              </a:r>
              <a:endParaRPr b="1" sz="1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01</a:t>
              </a:r>
              <a:r>
                <a:rPr lang="en" sz="11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CCTV Based </a:t>
              </a:r>
              <a:r>
                <a:rPr b="0" lang="en" sz="110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Tracking:</a:t>
              </a:r>
              <a:r>
                <a:rPr lang="en" sz="11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" sz="110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It </a:t>
              </a:r>
              <a:r>
                <a:rPr lang="en" sz="110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 tracks road-user interactions in real time, so risk builds on the system's radar before a human would even notice it.</a:t>
              </a:r>
              <a:endParaRPr sz="11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02</a:t>
              </a:r>
              <a:r>
                <a:rPr lang="en" sz="11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b="0" lang="en" sz="110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Automated Confirmation:</a:t>
              </a:r>
              <a:r>
                <a:rPr lang="en" sz="11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" sz="110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Confirm an actual collision automatically using multiple independent signals, gated by consensus to prevent false alarms.</a:t>
              </a:r>
              <a:endParaRPr sz="11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03</a:t>
              </a:r>
              <a:r>
                <a:rPr lang="en" sz="11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b="0" lang="en" sz="110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Autonomous Dispatch:</a:t>
              </a:r>
              <a:r>
                <a:rPr lang="en" sz="11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" sz="110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Start the emergency chain (ambulance, police, hospital pre-alerts) instantly, collapsing response time from minutes to seconds.</a:t>
              </a:r>
              <a:endParaRPr sz="11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04</a:t>
              </a:r>
              <a:r>
                <a:rPr lang="en" sz="11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b="0" lang="en" sz="110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Explainable Decisions:</a:t>
              </a:r>
              <a:r>
                <a:rPr lang="en" sz="11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" sz="110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Keep automated decisions transparent and explainable to operators, allowing response teams to trust and verify alerts at a glance.</a:t>
              </a:r>
              <a:endParaRPr sz="11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7" name="Google Shape;587;p5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8" name="Google Shape;588;p5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89" name="Google Shape;589;p51" title="System_Design_Combined_4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" y="0"/>
            <a:ext cx="914399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4" name="Google Shape;594;p5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5" name="Google Shape;595;p5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6" name="Google Shape;596;p5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7" name="Google Shape;597;p52"/>
          <p:cNvSpPr txBox="1"/>
          <p:nvPr/>
        </p:nvSpPr>
        <p:spPr>
          <a:xfrm>
            <a:off x="381000" y="3810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Algorithm Pipeline </a:t>
            </a:r>
            <a:r>
              <a:rPr b="0" lang="en" sz="18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| System Architecture</a:t>
            </a:r>
            <a:endParaRPr b="1" sz="2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598" name="Google Shape;598;p52"/>
          <p:cNvGrpSpPr/>
          <p:nvPr/>
        </p:nvGrpSpPr>
        <p:grpSpPr>
          <a:xfrm>
            <a:off x="381000" y="952500"/>
            <a:ext cx="8382000" cy="285900"/>
            <a:chOff x="0" y="0"/>
            <a:chExt cx="8382000" cy="285900"/>
          </a:xfrm>
        </p:grpSpPr>
        <p:sp>
          <p:nvSpPr>
            <p:cNvPr id="599" name="Google Shape;599;p52"/>
            <p:cNvSpPr/>
            <p:nvPr/>
          </p:nvSpPr>
          <p:spPr>
            <a:xfrm>
              <a:off x="0" y="0"/>
              <a:ext cx="8382000" cy="285900"/>
            </a:xfrm>
            <a:prstGeom prst="roundRect">
              <a:avLst>
                <a:gd fmla="val 13333" name="adj"/>
              </a:avLst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52"/>
            <p:cNvSpPr txBox="1"/>
            <p:nvPr/>
          </p:nvSpPr>
          <p:spPr>
            <a:xfrm>
              <a:off x="142875" y="0"/>
              <a:ext cx="1714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STAGE</a:t>
              </a:r>
              <a:endParaRPr b="1" sz="95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601" name="Google Shape;601;p52"/>
            <p:cNvSpPr txBox="1"/>
            <p:nvPr/>
          </p:nvSpPr>
          <p:spPr>
            <a:xfrm>
              <a:off x="2000250" y="0"/>
              <a:ext cx="2095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ALGORITHM</a:t>
              </a:r>
              <a:endParaRPr b="1" sz="95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602" name="Google Shape;602;p52"/>
            <p:cNvSpPr txBox="1"/>
            <p:nvPr/>
          </p:nvSpPr>
          <p:spPr>
            <a:xfrm>
              <a:off x="4286250" y="0"/>
              <a:ext cx="39528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PURPOSE</a:t>
              </a:r>
              <a:endParaRPr b="1" sz="95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603" name="Google Shape;603;p52"/>
          <p:cNvGrpSpPr/>
          <p:nvPr/>
        </p:nvGrpSpPr>
        <p:grpSpPr>
          <a:xfrm>
            <a:off x="381000" y="1295400"/>
            <a:ext cx="8382000" cy="3009900"/>
            <a:chOff x="381000" y="1295400"/>
            <a:chExt cx="8382000" cy="3009900"/>
          </a:xfrm>
        </p:grpSpPr>
        <p:grpSp>
          <p:nvGrpSpPr>
            <p:cNvPr id="604" name="Google Shape;604;p52"/>
            <p:cNvGrpSpPr/>
            <p:nvPr/>
          </p:nvGrpSpPr>
          <p:grpSpPr>
            <a:xfrm>
              <a:off x="381000" y="1295400"/>
              <a:ext cx="8382000" cy="342900"/>
              <a:chOff x="0" y="0"/>
              <a:chExt cx="8382000" cy="342900"/>
            </a:xfrm>
          </p:grpSpPr>
          <p:sp>
            <p:nvSpPr>
              <p:cNvPr id="605" name="Google Shape;605;p52"/>
              <p:cNvSpPr/>
              <p:nvPr/>
            </p:nvSpPr>
            <p:spPr>
              <a:xfrm>
                <a:off x="0" y="0"/>
                <a:ext cx="8382000" cy="342900"/>
              </a:xfrm>
              <a:prstGeom prst="roundRect">
                <a:avLst>
                  <a:gd fmla="val 11111" name="adj"/>
                </a:avLst>
              </a:prstGeom>
              <a:solidFill>
                <a:srgbClr val="0D0D0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52"/>
              <p:cNvSpPr txBox="1"/>
              <p:nvPr/>
            </p:nvSpPr>
            <p:spPr>
              <a:xfrm>
                <a:off x="142875" y="0"/>
                <a:ext cx="17145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Detection</a:t>
                </a:r>
                <a:endParaRPr b="1" sz="11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607" name="Google Shape;607;p52"/>
              <p:cNvSpPr txBox="1"/>
              <p:nvPr/>
            </p:nvSpPr>
            <p:spPr>
              <a:xfrm>
                <a:off x="2000250" y="0"/>
                <a:ext cx="20955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DEFF9A"/>
                    </a:solidFill>
                    <a:latin typeface="Urbanist Medium"/>
                    <a:ea typeface="Urbanist Medium"/>
                    <a:cs typeface="Urbanist Medium"/>
                    <a:sym typeface="Urbanist Medium"/>
                  </a:rPr>
                  <a:t>YOLOv8n</a:t>
                </a:r>
                <a:endParaRPr b="0" sz="1100">
                  <a:solidFill>
                    <a:srgbClr val="DEFF9A"/>
                  </a:solidFill>
                  <a:latin typeface="Urbanist Medium"/>
                  <a:ea typeface="Urbanist Medium"/>
                  <a:cs typeface="Urbanist Medium"/>
                  <a:sym typeface="Urbanist Medium"/>
                </a:endParaRPr>
              </a:p>
            </p:txBody>
          </p:sp>
          <p:sp>
            <p:nvSpPr>
              <p:cNvPr id="608" name="Google Shape;608;p52"/>
              <p:cNvSpPr txBox="1"/>
              <p:nvPr/>
            </p:nvSpPr>
            <p:spPr>
              <a:xfrm>
                <a:off x="4286250" y="0"/>
                <a:ext cx="39528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B0B0B0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Real-time road-user detection (person/vehicle classes)</a:t>
                </a:r>
                <a:endParaRPr b="0" sz="105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609" name="Google Shape;609;p52"/>
            <p:cNvGrpSpPr/>
            <p:nvPr/>
          </p:nvGrpSpPr>
          <p:grpSpPr>
            <a:xfrm>
              <a:off x="381000" y="1676400"/>
              <a:ext cx="8382000" cy="342900"/>
              <a:chOff x="0" y="0"/>
              <a:chExt cx="8382000" cy="342900"/>
            </a:xfrm>
          </p:grpSpPr>
          <p:sp>
            <p:nvSpPr>
              <p:cNvPr id="610" name="Google Shape;610;p52"/>
              <p:cNvSpPr/>
              <p:nvPr/>
            </p:nvSpPr>
            <p:spPr>
              <a:xfrm>
                <a:off x="0" y="0"/>
                <a:ext cx="8382000" cy="342900"/>
              </a:xfrm>
              <a:prstGeom prst="roundRect">
                <a:avLst>
                  <a:gd fmla="val 11111" name="adj"/>
                </a:avLst>
              </a:prstGeom>
              <a:solidFill>
                <a:srgbClr val="05050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52"/>
              <p:cNvSpPr txBox="1"/>
              <p:nvPr/>
            </p:nvSpPr>
            <p:spPr>
              <a:xfrm>
                <a:off x="142875" y="0"/>
                <a:ext cx="17145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Tracking</a:t>
                </a:r>
                <a:endParaRPr b="1" sz="11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612" name="Google Shape;612;p52"/>
              <p:cNvSpPr txBox="1"/>
              <p:nvPr/>
            </p:nvSpPr>
            <p:spPr>
              <a:xfrm>
                <a:off x="2000250" y="0"/>
                <a:ext cx="20955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DEFF9A"/>
                    </a:solidFill>
                    <a:latin typeface="Urbanist Medium"/>
                    <a:ea typeface="Urbanist Medium"/>
                    <a:cs typeface="Urbanist Medium"/>
                    <a:sym typeface="Urbanist Medium"/>
                  </a:rPr>
                  <a:t>ByteTrack</a:t>
                </a:r>
                <a:endParaRPr b="0" sz="1100">
                  <a:solidFill>
                    <a:srgbClr val="DEFF9A"/>
                  </a:solidFill>
                  <a:latin typeface="Urbanist Medium"/>
                  <a:ea typeface="Urbanist Medium"/>
                  <a:cs typeface="Urbanist Medium"/>
                  <a:sym typeface="Urbanist Medium"/>
                </a:endParaRPr>
              </a:p>
            </p:txBody>
          </p:sp>
          <p:sp>
            <p:nvSpPr>
              <p:cNvPr id="613" name="Google Shape;613;p52"/>
              <p:cNvSpPr txBox="1"/>
              <p:nvPr/>
            </p:nvSpPr>
            <p:spPr>
              <a:xfrm>
                <a:off x="4286250" y="0"/>
                <a:ext cx="39528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B0B0B0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Consistent ID across frames, occlusion-tolerant</a:t>
                </a:r>
                <a:endParaRPr b="0" sz="105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614" name="Google Shape;614;p52"/>
            <p:cNvGrpSpPr/>
            <p:nvPr/>
          </p:nvGrpSpPr>
          <p:grpSpPr>
            <a:xfrm>
              <a:off x="381000" y="2057400"/>
              <a:ext cx="8382000" cy="342900"/>
              <a:chOff x="0" y="0"/>
              <a:chExt cx="8382000" cy="342900"/>
            </a:xfrm>
          </p:grpSpPr>
          <p:sp>
            <p:nvSpPr>
              <p:cNvPr id="615" name="Google Shape;615;p52"/>
              <p:cNvSpPr/>
              <p:nvPr/>
            </p:nvSpPr>
            <p:spPr>
              <a:xfrm>
                <a:off x="0" y="0"/>
                <a:ext cx="8382000" cy="342900"/>
              </a:xfrm>
              <a:prstGeom prst="roundRect">
                <a:avLst>
                  <a:gd fmla="val 11111" name="adj"/>
                </a:avLst>
              </a:prstGeom>
              <a:solidFill>
                <a:srgbClr val="0D0D0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52"/>
              <p:cNvSpPr txBox="1"/>
              <p:nvPr/>
            </p:nvSpPr>
            <p:spPr>
              <a:xfrm>
                <a:off x="142875" y="0"/>
                <a:ext cx="17145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State estimation</a:t>
                </a:r>
                <a:endParaRPr b="1" sz="11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617" name="Google Shape;617;p52"/>
              <p:cNvSpPr txBox="1"/>
              <p:nvPr/>
            </p:nvSpPr>
            <p:spPr>
              <a:xfrm>
                <a:off x="2000250" y="0"/>
                <a:ext cx="20955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DEFF9A"/>
                    </a:solidFill>
                    <a:latin typeface="Urbanist Medium"/>
                    <a:ea typeface="Urbanist Medium"/>
                    <a:cs typeface="Urbanist Medium"/>
                    <a:sym typeface="Urbanist Medium"/>
                  </a:rPr>
                  <a:t>Kalman Filter </a:t>
                </a:r>
                <a:r>
                  <a:rPr b="0" lang="en" sz="95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[x,y,vx,vy]</a:t>
                </a:r>
                <a:endParaRPr b="0" sz="1100">
                  <a:solidFill>
                    <a:srgbClr val="DEFF9A"/>
                  </a:solidFill>
                  <a:latin typeface="Urbanist Medium"/>
                  <a:ea typeface="Urbanist Medium"/>
                  <a:cs typeface="Urbanist Medium"/>
                  <a:sym typeface="Urbanist Medium"/>
                </a:endParaRPr>
              </a:p>
            </p:txBody>
          </p:sp>
          <p:sp>
            <p:nvSpPr>
              <p:cNvPr id="618" name="Google Shape;618;p52"/>
              <p:cNvSpPr txBox="1"/>
              <p:nvPr/>
            </p:nvSpPr>
            <p:spPr>
              <a:xfrm>
                <a:off x="4286250" y="0"/>
                <a:ext cx="39528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B0B0B0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Smooths noisy detections, estimates velocity &amp; </a:t>
                </a:r>
                <a:r>
                  <a:rPr b="1" lang="en" sz="1050">
                    <a:solidFill>
                      <a:srgbClr val="DEFF9A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P_k</a:t>
                </a:r>
                <a:endParaRPr b="0" sz="105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619" name="Google Shape;619;p52"/>
            <p:cNvGrpSpPr/>
            <p:nvPr/>
          </p:nvGrpSpPr>
          <p:grpSpPr>
            <a:xfrm>
              <a:off x="381000" y="2438400"/>
              <a:ext cx="8382000" cy="342900"/>
              <a:chOff x="0" y="0"/>
              <a:chExt cx="8382000" cy="342900"/>
            </a:xfrm>
          </p:grpSpPr>
          <p:sp>
            <p:nvSpPr>
              <p:cNvPr id="620" name="Google Shape;620;p52"/>
              <p:cNvSpPr/>
              <p:nvPr/>
            </p:nvSpPr>
            <p:spPr>
              <a:xfrm>
                <a:off x="0" y="0"/>
                <a:ext cx="8382000" cy="342900"/>
              </a:xfrm>
              <a:prstGeom prst="roundRect">
                <a:avLst>
                  <a:gd fmla="val 11111" name="adj"/>
                </a:avLst>
              </a:prstGeom>
              <a:solidFill>
                <a:srgbClr val="05050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52"/>
              <p:cNvSpPr txBox="1"/>
              <p:nvPr/>
            </p:nvSpPr>
            <p:spPr>
              <a:xfrm>
                <a:off x="142875" y="0"/>
                <a:ext cx="17145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Geo-referencing</a:t>
                </a:r>
                <a:endParaRPr b="1" sz="11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622" name="Google Shape;622;p52"/>
              <p:cNvSpPr txBox="1"/>
              <p:nvPr/>
            </p:nvSpPr>
            <p:spPr>
              <a:xfrm>
                <a:off x="2000250" y="0"/>
                <a:ext cx="20955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DEFF9A"/>
                    </a:solidFill>
                    <a:latin typeface="Urbanist Medium"/>
                    <a:ea typeface="Urbanist Medium"/>
                    <a:cs typeface="Urbanist Medium"/>
                    <a:sym typeface="Urbanist Medium"/>
                  </a:rPr>
                  <a:t>Homography / Ground-plane</a:t>
                </a:r>
                <a:endParaRPr b="0" sz="1100">
                  <a:solidFill>
                    <a:srgbClr val="DEFF9A"/>
                  </a:solidFill>
                  <a:latin typeface="Urbanist Medium"/>
                  <a:ea typeface="Urbanist Medium"/>
                  <a:cs typeface="Urbanist Medium"/>
                  <a:sym typeface="Urbanist Medium"/>
                </a:endParaRPr>
              </a:p>
            </p:txBody>
          </p:sp>
          <p:sp>
            <p:nvSpPr>
              <p:cNvPr id="623" name="Google Shape;623;p52"/>
              <p:cNvSpPr txBox="1"/>
              <p:nvPr/>
            </p:nvSpPr>
            <p:spPr>
              <a:xfrm>
                <a:off x="4286250" y="0"/>
                <a:ext cx="39528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B0B0B0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Converts pixel-space to world-space distance &amp; speed</a:t>
                </a:r>
                <a:endParaRPr b="0" sz="105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624" name="Google Shape;624;p52"/>
            <p:cNvGrpSpPr/>
            <p:nvPr/>
          </p:nvGrpSpPr>
          <p:grpSpPr>
            <a:xfrm>
              <a:off x="381000" y="2819400"/>
              <a:ext cx="8382000" cy="342900"/>
              <a:chOff x="0" y="0"/>
              <a:chExt cx="8382000" cy="342900"/>
            </a:xfrm>
          </p:grpSpPr>
          <p:sp>
            <p:nvSpPr>
              <p:cNvPr id="625" name="Google Shape;625;p52"/>
              <p:cNvSpPr/>
              <p:nvPr/>
            </p:nvSpPr>
            <p:spPr>
              <a:xfrm>
                <a:off x="0" y="0"/>
                <a:ext cx="8382000" cy="342900"/>
              </a:xfrm>
              <a:prstGeom prst="roundRect">
                <a:avLst>
                  <a:gd fmla="val 11111" name="adj"/>
                </a:avLst>
              </a:prstGeom>
              <a:solidFill>
                <a:srgbClr val="0D0D0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" name="Google Shape;626;p52"/>
              <p:cNvSpPr txBox="1"/>
              <p:nvPr/>
            </p:nvSpPr>
            <p:spPr>
              <a:xfrm>
                <a:off x="142875" y="0"/>
                <a:ext cx="17145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Risk scoring</a:t>
                </a:r>
                <a:endParaRPr b="1" sz="11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627" name="Google Shape;627;p52"/>
              <p:cNvSpPr txBox="1"/>
              <p:nvPr/>
            </p:nvSpPr>
            <p:spPr>
              <a:xfrm>
                <a:off x="2000250" y="0"/>
                <a:ext cx="20955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DEFF9A"/>
                    </a:solidFill>
                    <a:latin typeface="Urbanist Medium"/>
                    <a:ea typeface="Urbanist Medium"/>
                    <a:cs typeface="Urbanist Medium"/>
                    <a:sym typeface="Urbanist Medium"/>
                  </a:rPr>
                  <a:t>Fuzzy inference </a:t>
                </a:r>
                <a:r>
                  <a:rPr b="0" lang="en" sz="9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(TTC,vel,head)</a:t>
                </a:r>
                <a:endParaRPr b="0" sz="1100">
                  <a:solidFill>
                    <a:srgbClr val="DEFF9A"/>
                  </a:solidFill>
                  <a:latin typeface="Urbanist Medium"/>
                  <a:ea typeface="Urbanist Medium"/>
                  <a:cs typeface="Urbanist Medium"/>
                  <a:sym typeface="Urbanist Medium"/>
                </a:endParaRPr>
              </a:p>
            </p:txBody>
          </p:sp>
          <p:sp>
            <p:nvSpPr>
              <p:cNvPr id="628" name="Google Shape;628;p52"/>
              <p:cNvSpPr txBox="1"/>
              <p:nvPr/>
            </p:nvSpPr>
            <p:spPr>
              <a:xfrm>
                <a:off x="4286250" y="0"/>
                <a:ext cx="39528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B0B0B0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Continuous risk score </a:t>
                </a:r>
                <a:r>
                  <a:rPr b="1" lang="en" sz="1050">
                    <a:solidFill>
                      <a:srgbClr val="DEFF9A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→ SAFE/ELEVATED/CRITICAL</a:t>
                </a:r>
                <a:endParaRPr b="0" sz="105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629" name="Google Shape;629;p52"/>
            <p:cNvGrpSpPr/>
            <p:nvPr/>
          </p:nvGrpSpPr>
          <p:grpSpPr>
            <a:xfrm>
              <a:off x="381000" y="3200400"/>
              <a:ext cx="8382000" cy="342900"/>
              <a:chOff x="0" y="0"/>
              <a:chExt cx="8382000" cy="342900"/>
            </a:xfrm>
          </p:grpSpPr>
          <p:sp>
            <p:nvSpPr>
              <p:cNvPr id="630" name="Google Shape;630;p52"/>
              <p:cNvSpPr/>
              <p:nvPr/>
            </p:nvSpPr>
            <p:spPr>
              <a:xfrm>
                <a:off x="0" y="0"/>
                <a:ext cx="8382000" cy="342900"/>
              </a:xfrm>
              <a:prstGeom prst="roundRect">
                <a:avLst>
                  <a:gd fmla="val 11111" name="adj"/>
                </a:avLst>
              </a:prstGeom>
              <a:solidFill>
                <a:srgbClr val="05050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52"/>
              <p:cNvSpPr txBox="1"/>
              <p:nvPr/>
            </p:nvSpPr>
            <p:spPr>
              <a:xfrm>
                <a:off x="142875" y="0"/>
                <a:ext cx="17145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Temporal reasoning</a:t>
                </a:r>
                <a:endParaRPr b="1" sz="11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632" name="Google Shape;632;p52"/>
              <p:cNvSpPr txBox="1"/>
              <p:nvPr/>
            </p:nvSpPr>
            <p:spPr>
              <a:xfrm>
                <a:off x="2000250" y="0"/>
                <a:ext cx="20955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DEFF9A"/>
                    </a:solidFill>
                    <a:latin typeface="Urbanist Medium"/>
                    <a:ea typeface="Urbanist Medium"/>
                    <a:cs typeface="Urbanist Medium"/>
                    <a:sym typeface="Urbanist Medium"/>
                  </a:rPr>
                  <a:t>Finite-state continuous model</a:t>
                </a:r>
                <a:endParaRPr b="0" sz="1100">
                  <a:solidFill>
                    <a:srgbClr val="DEFF9A"/>
                  </a:solidFill>
                  <a:latin typeface="Urbanist Medium"/>
                  <a:ea typeface="Urbanist Medium"/>
                  <a:cs typeface="Urbanist Medium"/>
                  <a:sym typeface="Urbanist Medium"/>
                </a:endParaRPr>
              </a:p>
            </p:txBody>
          </p:sp>
          <p:sp>
            <p:nvSpPr>
              <p:cNvPr id="633" name="Google Shape;633;p52"/>
              <p:cNvSpPr txBox="1"/>
              <p:nvPr/>
            </p:nvSpPr>
            <p:spPr>
              <a:xfrm>
                <a:off x="4286250" y="0"/>
                <a:ext cx="39528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B0B0B0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Prevents single-frame false alarms via sequential states</a:t>
                </a:r>
                <a:endParaRPr b="0" sz="105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634" name="Google Shape;634;p52"/>
            <p:cNvGrpSpPr/>
            <p:nvPr/>
          </p:nvGrpSpPr>
          <p:grpSpPr>
            <a:xfrm>
              <a:off x="381000" y="3581400"/>
              <a:ext cx="8382000" cy="342900"/>
              <a:chOff x="0" y="0"/>
              <a:chExt cx="8382000" cy="342900"/>
            </a:xfrm>
          </p:grpSpPr>
          <p:sp>
            <p:nvSpPr>
              <p:cNvPr id="635" name="Google Shape;635;p52"/>
              <p:cNvSpPr/>
              <p:nvPr/>
            </p:nvSpPr>
            <p:spPr>
              <a:xfrm>
                <a:off x="0" y="0"/>
                <a:ext cx="8382000" cy="342900"/>
              </a:xfrm>
              <a:prstGeom prst="roundRect">
                <a:avLst>
                  <a:gd fmla="val 11111" name="adj"/>
                </a:avLst>
              </a:prstGeom>
              <a:solidFill>
                <a:srgbClr val="0D0D0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52"/>
              <p:cNvSpPr txBox="1"/>
              <p:nvPr/>
            </p:nvSpPr>
            <p:spPr>
              <a:xfrm>
                <a:off x="142875" y="0"/>
                <a:ext cx="17145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Collision confirm</a:t>
                </a:r>
                <a:endParaRPr b="1" sz="11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637" name="Google Shape;637;p52"/>
              <p:cNvSpPr txBox="1"/>
              <p:nvPr/>
            </p:nvSpPr>
            <p:spPr>
              <a:xfrm>
                <a:off x="2000250" y="0"/>
                <a:ext cx="20955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DEFF9A"/>
                    </a:solidFill>
                    <a:latin typeface="Urbanist Medium"/>
                    <a:ea typeface="Urbanist Medium"/>
                    <a:cs typeface="Urbanist Medium"/>
                    <a:sym typeface="Urbanist Medium"/>
                  </a:rPr>
                  <a:t>k-of-n consensus </a:t>
                </a:r>
                <a:r>
                  <a:rPr b="0" lang="en" sz="9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(≥4 of 5)</a:t>
                </a:r>
                <a:endParaRPr b="0" sz="1100">
                  <a:solidFill>
                    <a:srgbClr val="DEFF9A"/>
                  </a:solidFill>
                  <a:latin typeface="Urbanist Medium"/>
                  <a:ea typeface="Urbanist Medium"/>
                  <a:cs typeface="Urbanist Medium"/>
                  <a:sym typeface="Urbanist Medium"/>
                </a:endParaRPr>
              </a:p>
            </p:txBody>
          </p:sp>
          <p:sp>
            <p:nvSpPr>
              <p:cNvPr id="638" name="Google Shape;638;p52"/>
              <p:cNvSpPr txBox="1"/>
              <p:nvPr/>
            </p:nvSpPr>
            <p:spPr>
              <a:xfrm>
                <a:off x="4286250" y="0"/>
                <a:ext cx="39528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B0B0B0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Fuses multi-signals to prevent noisy real-world dispatch</a:t>
                </a:r>
                <a:endParaRPr b="0" sz="105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639" name="Google Shape;639;p52"/>
            <p:cNvGrpSpPr/>
            <p:nvPr/>
          </p:nvGrpSpPr>
          <p:grpSpPr>
            <a:xfrm>
              <a:off x="381000" y="3962400"/>
              <a:ext cx="8382000" cy="342900"/>
              <a:chOff x="0" y="0"/>
              <a:chExt cx="8382000" cy="342900"/>
            </a:xfrm>
          </p:grpSpPr>
          <p:sp>
            <p:nvSpPr>
              <p:cNvPr id="640" name="Google Shape;640;p52"/>
              <p:cNvSpPr/>
              <p:nvPr/>
            </p:nvSpPr>
            <p:spPr>
              <a:xfrm>
                <a:off x="0" y="0"/>
                <a:ext cx="8382000" cy="342900"/>
              </a:xfrm>
              <a:prstGeom prst="roundRect">
                <a:avLst>
                  <a:gd fmla="val 11111" name="adj"/>
                </a:avLst>
              </a:prstGeom>
              <a:solidFill>
                <a:srgbClr val="14141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52"/>
              <p:cNvSpPr txBox="1"/>
              <p:nvPr/>
            </p:nvSpPr>
            <p:spPr>
              <a:xfrm>
                <a:off x="142875" y="0"/>
                <a:ext cx="17145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Response gen.</a:t>
                </a:r>
                <a:endParaRPr b="1" sz="11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642" name="Google Shape;642;p52"/>
              <p:cNvSpPr txBox="1"/>
              <p:nvPr/>
            </p:nvSpPr>
            <p:spPr>
              <a:xfrm>
                <a:off x="2000250" y="0"/>
                <a:ext cx="20955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DEFF9A"/>
                    </a:solidFill>
                    <a:latin typeface="Urbanist Medium"/>
                    <a:ea typeface="Urbanist Medium"/>
                    <a:cs typeface="Urbanist Medium"/>
                    <a:sym typeface="Urbanist Medium"/>
                  </a:rPr>
                  <a:t>LLM-based structured output</a:t>
                </a:r>
                <a:endParaRPr b="0" sz="1100">
                  <a:solidFill>
                    <a:srgbClr val="DEFF9A"/>
                  </a:solidFill>
                  <a:latin typeface="Urbanist Medium"/>
                  <a:ea typeface="Urbanist Medium"/>
                  <a:cs typeface="Urbanist Medium"/>
                  <a:sym typeface="Urbanist Medium"/>
                </a:endParaRPr>
              </a:p>
            </p:txBody>
          </p:sp>
          <p:sp>
            <p:nvSpPr>
              <p:cNvPr id="643" name="Google Shape;643;p52"/>
              <p:cNvSpPr txBox="1"/>
              <p:nvPr/>
            </p:nvSpPr>
            <p:spPr>
              <a:xfrm>
                <a:off x="4286250" y="0"/>
                <a:ext cx="39528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B0B0B0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Automated, context-aware emergency reporting dispatch</a:t>
                </a:r>
                <a:endParaRPr b="0" sz="105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8" name="Google Shape;648;p5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9" name="Google Shape;649;p5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0" name="Google Shape;650;p5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651" name="Google Shape;651;p53"/>
          <p:cNvGrpSpPr/>
          <p:nvPr/>
        </p:nvGrpSpPr>
        <p:grpSpPr>
          <a:xfrm>
            <a:off x="381000" y="381000"/>
            <a:ext cx="8382000" cy="476400"/>
            <a:chOff x="0" y="0"/>
            <a:chExt cx="8382000" cy="476400"/>
          </a:xfrm>
        </p:grpSpPr>
        <p:sp>
          <p:nvSpPr>
            <p:cNvPr id="652" name="Google Shape;652;p53"/>
            <p:cNvSpPr/>
            <p:nvPr/>
          </p:nvSpPr>
          <p:spPr>
            <a:xfrm>
              <a:off x="0" y="0"/>
              <a:ext cx="8382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53"/>
            <p:cNvSpPr txBox="1"/>
            <p:nvPr/>
          </p:nvSpPr>
          <p:spPr>
            <a:xfrm>
              <a:off x="0" y="0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Technology Stack </a:t>
              </a:r>
              <a:r>
                <a:rPr b="0" lang="en" sz="16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| System Infrastructure</a:t>
              </a:r>
              <a:endParaRPr b="1" sz="2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654" name="Google Shape;654;p53"/>
          <p:cNvGrpSpPr/>
          <p:nvPr/>
        </p:nvGrpSpPr>
        <p:grpSpPr>
          <a:xfrm>
            <a:off x="381000" y="1000125"/>
            <a:ext cx="4000500" cy="1571700"/>
            <a:chOff x="0" y="0"/>
            <a:chExt cx="4000500" cy="1571700"/>
          </a:xfrm>
        </p:grpSpPr>
        <p:sp>
          <p:nvSpPr>
            <p:cNvPr id="655" name="Google Shape;655;p53"/>
            <p:cNvSpPr/>
            <p:nvPr/>
          </p:nvSpPr>
          <p:spPr>
            <a:xfrm>
              <a:off x="0" y="0"/>
              <a:ext cx="4000500" cy="1571700"/>
            </a:xfrm>
            <a:prstGeom prst="roundRect">
              <a:avLst>
                <a:gd fmla="val 4848" name="adj"/>
              </a:avLst>
            </a:prstGeom>
            <a:solidFill>
              <a:srgbClr val="0A0A0A"/>
            </a:solidFill>
            <a:ln cap="flat" cmpd="sng" w="9525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53"/>
            <p:cNvSpPr txBox="1"/>
            <p:nvPr/>
          </p:nvSpPr>
          <p:spPr>
            <a:xfrm>
              <a:off x="142875" y="142875"/>
              <a:ext cx="37149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Perception / CV</a:t>
              </a:r>
              <a:endParaRPr b="1" sz="13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B0B0B0"/>
                </a:buClr>
                <a:buSzPts val="1100"/>
                <a:buFont typeface="Urbanist"/>
                <a:buChar char="●"/>
              </a:pPr>
              <a:r>
                <a:rPr b="0" lang="en" sz="110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YOLOv8n:</a:t>
              </a:r>
              <a:r>
                <a:rPr lang="en" sz="110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 Real-time road-user detection (person/vehicle) and ByteTrack for tracking.</a:t>
              </a:r>
              <a:endParaRPr sz="1100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B0B0B0"/>
                </a:buClr>
                <a:buSzPts val="1100"/>
                <a:buFont typeface="Urbanist"/>
                <a:buChar char="●"/>
              </a:pPr>
              <a:r>
                <a:rPr b="0" lang="en" sz="110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Kalman Filter:</a:t>
              </a:r>
              <a:r>
                <a:rPr lang="en" sz="110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 Custom/filterpy implementation for state estimation &amp; uncertainty.</a:t>
              </a:r>
              <a:endParaRPr sz="1100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657" name="Google Shape;657;p53"/>
          <p:cNvGrpSpPr/>
          <p:nvPr/>
        </p:nvGrpSpPr>
        <p:grpSpPr>
          <a:xfrm>
            <a:off x="381000" y="2714625"/>
            <a:ext cx="4000500" cy="1666800"/>
            <a:chOff x="0" y="0"/>
            <a:chExt cx="4000500" cy="1666800"/>
          </a:xfrm>
        </p:grpSpPr>
        <p:sp>
          <p:nvSpPr>
            <p:cNvPr id="658" name="Google Shape;658;p53"/>
            <p:cNvSpPr/>
            <p:nvPr/>
          </p:nvSpPr>
          <p:spPr>
            <a:xfrm>
              <a:off x="0" y="0"/>
              <a:ext cx="4000500" cy="1666800"/>
            </a:xfrm>
            <a:prstGeom prst="roundRect">
              <a:avLst>
                <a:gd fmla="val 4571" name="adj"/>
              </a:avLst>
            </a:prstGeom>
            <a:solidFill>
              <a:srgbClr val="0A0A0A"/>
            </a:solidFill>
            <a:ln cap="flat" cmpd="sng" w="9525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53"/>
            <p:cNvSpPr txBox="1"/>
            <p:nvPr/>
          </p:nvSpPr>
          <p:spPr>
            <a:xfrm>
              <a:off x="142875" y="142875"/>
              <a:ext cx="37149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Backend / Logic</a:t>
              </a:r>
              <a:endParaRPr b="1" sz="13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B0B0B0"/>
                </a:buClr>
                <a:buSzPts val="1100"/>
                <a:buFont typeface="Urbanist"/>
                <a:buChar char="●"/>
              </a:pPr>
              <a:r>
                <a:rPr b="0" lang="en" sz="110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Python Environment:</a:t>
              </a:r>
              <a:r>
                <a:rPr lang="en" sz="110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 FastAPI  powering inference server, risk engine, and fuzzy logic.</a:t>
              </a:r>
              <a:endParaRPr sz="1100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B0B0B0"/>
                </a:buClr>
                <a:buSzPts val="1100"/>
                <a:buFont typeface="Urbanist"/>
                <a:buChar char="●"/>
              </a:pPr>
              <a:r>
                <a:rPr b="0" lang="en" sz="110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Ledger Storage:</a:t>
              </a:r>
              <a:r>
                <a:rPr lang="en" sz="110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 CSV/JSON storage for near-miss tracking, designed to be DB-extensible.</a:t>
              </a:r>
              <a:endParaRPr sz="1100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660" name="Google Shape;660;p53"/>
          <p:cNvGrpSpPr/>
          <p:nvPr/>
        </p:nvGrpSpPr>
        <p:grpSpPr>
          <a:xfrm>
            <a:off x="4572000" y="1000125"/>
            <a:ext cx="4191000" cy="1571700"/>
            <a:chOff x="0" y="0"/>
            <a:chExt cx="4191000" cy="1571700"/>
          </a:xfrm>
        </p:grpSpPr>
        <p:sp>
          <p:nvSpPr>
            <p:cNvPr id="661" name="Google Shape;661;p53"/>
            <p:cNvSpPr/>
            <p:nvPr/>
          </p:nvSpPr>
          <p:spPr>
            <a:xfrm>
              <a:off x="0" y="0"/>
              <a:ext cx="4191000" cy="1571700"/>
            </a:xfrm>
            <a:prstGeom prst="roundRect">
              <a:avLst>
                <a:gd fmla="val 4848" name="adj"/>
              </a:avLst>
            </a:prstGeom>
            <a:solidFill>
              <a:srgbClr val="0A0A0A"/>
            </a:solidFill>
            <a:ln cap="flat" cmpd="sng" w="9525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53"/>
            <p:cNvSpPr txBox="1"/>
            <p:nvPr/>
          </p:nvSpPr>
          <p:spPr>
            <a:xfrm>
              <a:off x="142875" y="142875"/>
              <a:ext cx="39054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Frontend &amp; Visualization</a:t>
              </a:r>
              <a:endParaRPr b="1" sz="13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B0B0B0"/>
                </a:buClr>
                <a:buSzPts val="1100"/>
                <a:buFont typeface="Urbanist"/>
                <a:buChar char="●"/>
              </a:pPr>
              <a:r>
                <a:rPr b="0" lang="en" sz="110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Command Center:</a:t>
              </a:r>
              <a:r>
                <a:rPr lang="en" sz="110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 React dashboard supporting multi-portal views (Police, Ambulance, Hospital).</a:t>
              </a:r>
              <a:endParaRPr sz="1100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B0B0B0"/>
                </a:buClr>
                <a:buSzPts val="1100"/>
                <a:buFont typeface="Urbanist"/>
                <a:buChar char="●"/>
              </a:pPr>
              <a:r>
                <a:rPr b="0" lang="en" sz="110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Live Map Layer:</a:t>
              </a:r>
              <a:r>
                <a:rPr lang="en" sz="110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 Integrated OpenStreetMap &amp; CartoDB for real-time spatial tracking.</a:t>
              </a:r>
              <a:endParaRPr sz="1100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663" name="Google Shape;663;p53"/>
          <p:cNvGrpSpPr/>
          <p:nvPr/>
        </p:nvGrpSpPr>
        <p:grpSpPr>
          <a:xfrm>
            <a:off x="4572000" y="2714625"/>
            <a:ext cx="4191000" cy="1666800"/>
            <a:chOff x="0" y="0"/>
            <a:chExt cx="4191000" cy="1666800"/>
          </a:xfrm>
        </p:grpSpPr>
        <p:sp>
          <p:nvSpPr>
            <p:cNvPr id="664" name="Google Shape;664;p53"/>
            <p:cNvSpPr/>
            <p:nvPr/>
          </p:nvSpPr>
          <p:spPr>
            <a:xfrm>
              <a:off x="0" y="0"/>
              <a:ext cx="4191000" cy="1666800"/>
            </a:xfrm>
            <a:prstGeom prst="roundRect">
              <a:avLst>
                <a:gd fmla="val 4571" name="adj"/>
              </a:avLst>
            </a:prstGeom>
            <a:solidFill>
              <a:srgbClr val="0A0A0A"/>
            </a:solidFill>
            <a:ln cap="flat" cmpd="sng" w="9525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53"/>
            <p:cNvSpPr txBox="1"/>
            <p:nvPr/>
          </p:nvSpPr>
          <p:spPr>
            <a:xfrm>
              <a:off x="142875" y="142875"/>
              <a:ext cx="39054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Orchestration &amp; Deployment</a:t>
              </a:r>
              <a:endParaRPr b="1" sz="13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B0B0B0"/>
                </a:buClr>
                <a:buSzPts val="1050"/>
                <a:buFont typeface="Urbanist"/>
                <a:buChar char="●"/>
              </a:pPr>
              <a:r>
                <a:rPr b="0" lang="en" sz="105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Response:</a:t>
              </a:r>
              <a:r>
                <a:rPr lang="en" sz="105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 LLM structured JSON generation for role-specific alerts + auto-web updates.</a:t>
              </a:r>
              <a:endParaRPr sz="1050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B0B0B0"/>
                </a:buClr>
                <a:buSzPts val="1050"/>
                <a:buFont typeface="Urbanist"/>
                <a:buChar char="●"/>
              </a:pPr>
              <a:r>
                <a:rPr b="0" lang="en" sz="105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Connectivity:</a:t>
              </a:r>
              <a:r>
                <a:rPr lang="en" sz="105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 LoRa mesh concept for low-instrumentation intersections.</a:t>
              </a:r>
              <a:endParaRPr sz="1050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B0B0B0"/>
                </a:buClr>
                <a:buSzPts val="1050"/>
                <a:buFont typeface="Urbanist"/>
                <a:buChar char="●"/>
              </a:pPr>
              <a:r>
                <a:rPr b="0" lang="en" sz="105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Edge Deployment:</a:t>
              </a:r>
              <a:r>
                <a:rPr lang="en" sz="105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 Single-camera commodity GPU/CPU (hardware-light design).</a:t>
              </a:r>
              <a:endParaRPr sz="1050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0" name="Google Shape;670;p5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1" name="Google Shape;671;p5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54"/>
          <p:cNvSpPr/>
          <p:nvPr/>
        </p:nvSpPr>
        <p:spPr>
          <a:xfrm>
            <a:off x="4618949" y="4838995"/>
            <a:ext cx="45900" cy="4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3" name="Google Shape;673;p54"/>
          <p:cNvGrpSpPr/>
          <p:nvPr/>
        </p:nvGrpSpPr>
        <p:grpSpPr>
          <a:xfrm>
            <a:off x="381000" y="381000"/>
            <a:ext cx="8382000" cy="476400"/>
            <a:chOff x="0" y="0"/>
            <a:chExt cx="8382000" cy="476400"/>
          </a:xfrm>
        </p:grpSpPr>
        <p:sp>
          <p:nvSpPr>
            <p:cNvPr id="674" name="Google Shape;674;p54"/>
            <p:cNvSpPr/>
            <p:nvPr/>
          </p:nvSpPr>
          <p:spPr>
            <a:xfrm>
              <a:off x="0" y="0"/>
              <a:ext cx="8382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54"/>
            <p:cNvSpPr txBox="1"/>
            <p:nvPr/>
          </p:nvSpPr>
          <p:spPr>
            <a:xfrm>
              <a:off x="0" y="0"/>
              <a:ext cx="8382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chemeClr val="lt1"/>
                  </a:solidFill>
                  <a:latin typeface="Urbanist"/>
                  <a:ea typeface="Urbanist"/>
                  <a:cs typeface="Urbanist"/>
                  <a:sym typeface="Urbanist"/>
                </a:rPr>
                <a:t>R</a:t>
              </a:r>
              <a:r>
                <a:rPr b="1" lang="en" sz="2400">
                  <a:solidFill>
                    <a:schemeClr val="lt1"/>
                  </a:solidFill>
                  <a:latin typeface="Urbanist"/>
                  <a:ea typeface="Urbanist"/>
                  <a:cs typeface="Urbanist"/>
                  <a:sym typeface="Urbanist"/>
                </a:rPr>
                <a:t>esults</a:t>
              </a:r>
              <a:r>
                <a:rPr lang="en" sz="1100">
                  <a:solidFill>
                    <a:schemeClr val="dk1"/>
                  </a:solidFill>
                </a:rPr>
                <a:t> </a:t>
              </a:r>
              <a:r>
                <a:rPr b="1" lang="en" sz="24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b="0" lang="en" sz="16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| Live Demo &amp; Performance</a:t>
              </a:r>
              <a:endParaRPr b="1" sz="2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676" name="Google Shape;676;p54"/>
          <p:cNvGrpSpPr/>
          <p:nvPr/>
        </p:nvGrpSpPr>
        <p:grpSpPr>
          <a:xfrm>
            <a:off x="381000" y="1000125"/>
            <a:ext cx="4000500" cy="1571700"/>
            <a:chOff x="0" y="0"/>
            <a:chExt cx="4000500" cy="1571700"/>
          </a:xfrm>
        </p:grpSpPr>
        <p:sp>
          <p:nvSpPr>
            <p:cNvPr id="677" name="Google Shape;677;p54"/>
            <p:cNvSpPr/>
            <p:nvPr/>
          </p:nvSpPr>
          <p:spPr>
            <a:xfrm>
              <a:off x="0" y="0"/>
              <a:ext cx="4000500" cy="1571700"/>
            </a:xfrm>
            <a:prstGeom prst="roundRect">
              <a:avLst>
                <a:gd fmla="val 7272" name="adj"/>
              </a:avLst>
            </a:prstGeom>
            <a:solidFill>
              <a:srgbClr val="0A0A0A"/>
            </a:solidFill>
            <a:ln cap="flat" cmpd="sng" w="14300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54"/>
            <p:cNvSpPr/>
            <p:nvPr/>
          </p:nvSpPr>
          <p:spPr>
            <a:xfrm>
              <a:off x="142875" y="17145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DEFF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54"/>
            <p:cNvSpPr txBox="1"/>
            <p:nvPr/>
          </p:nvSpPr>
          <p:spPr>
            <a:xfrm>
              <a:off x="285750" y="142875"/>
              <a:ext cx="35718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Perception &amp; Near-Miss Ledger</a:t>
              </a:r>
              <a:endParaRPr b="1" sz="14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• Live perception feed: </a:t>
              </a:r>
              <a:r>
                <a:rPr b="0" lang="en" sz="105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Real-time road-user detection &amp; tracking with ID-persistent bounding boxes (cite actual FPS).</a:t>
              </a:r>
              <a:endParaRPr b="0" sz="105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• Near-Miss Ledger: </a:t>
              </a:r>
              <a:r>
                <a:rPr b="0" lang="en" sz="105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Structured TTC-scored events, ELEVATED/CRITICAL severity classification, timestamped.</a:t>
              </a:r>
              <a:endParaRPr b="0" sz="105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</p:grpSp>
      <p:grpSp>
        <p:nvGrpSpPr>
          <p:cNvPr id="680" name="Google Shape;680;p54"/>
          <p:cNvGrpSpPr/>
          <p:nvPr/>
        </p:nvGrpSpPr>
        <p:grpSpPr>
          <a:xfrm>
            <a:off x="381000" y="2714625"/>
            <a:ext cx="4000500" cy="1666800"/>
            <a:chOff x="0" y="0"/>
            <a:chExt cx="4000500" cy="1666800"/>
          </a:xfrm>
        </p:grpSpPr>
        <p:sp>
          <p:nvSpPr>
            <p:cNvPr id="681" name="Google Shape;681;p54"/>
            <p:cNvSpPr/>
            <p:nvPr/>
          </p:nvSpPr>
          <p:spPr>
            <a:xfrm>
              <a:off x="0" y="0"/>
              <a:ext cx="4000500" cy="1666800"/>
            </a:xfrm>
            <a:prstGeom prst="roundRect">
              <a:avLst>
                <a:gd fmla="val 6857" name="adj"/>
              </a:avLst>
            </a:prstGeom>
            <a:solidFill>
              <a:srgbClr val="0A0A0A"/>
            </a:solidFill>
            <a:ln cap="flat" cmpd="sng" w="14300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54"/>
            <p:cNvSpPr/>
            <p:nvPr/>
          </p:nvSpPr>
          <p:spPr>
            <a:xfrm>
              <a:off x="142875" y="17145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DEFF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54"/>
            <p:cNvSpPr txBox="1"/>
            <p:nvPr/>
          </p:nvSpPr>
          <p:spPr>
            <a:xfrm>
              <a:off x="285750" y="142875"/>
              <a:ext cx="35718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Collision Confidence &amp; Benchmarks</a:t>
              </a:r>
              <a:endParaRPr b="1" sz="14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• Confidence Engine: </a:t>
              </a:r>
              <a:r>
                <a:rPr b="0" lang="en" sz="105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Live "N-of-5 signals confirmed" panel demonstrates the consensus gate firing in real time.</a:t>
              </a:r>
              <a:endParaRPr b="0" sz="105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• System Benchmarks: </a:t>
              </a:r>
              <a:r>
                <a:rPr b="0" lang="en" sz="105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Ready to state detection FPS, confirmation latency, and false-positive rates honestly.</a:t>
              </a:r>
              <a:endParaRPr b="0" sz="105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</p:grpSp>
      <p:grpSp>
        <p:nvGrpSpPr>
          <p:cNvPr id="684" name="Google Shape;684;p54"/>
          <p:cNvGrpSpPr/>
          <p:nvPr/>
        </p:nvGrpSpPr>
        <p:grpSpPr>
          <a:xfrm>
            <a:off x="4572000" y="1000125"/>
            <a:ext cx="4191000" cy="3381300"/>
            <a:chOff x="0" y="0"/>
            <a:chExt cx="4191000" cy="3381300"/>
          </a:xfrm>
        </p:grpSpPr>
        <p:sp>
          <p:nvSpPr>
            <p:cNvPr id="685" name="Google Shape;685;p54"/>
            <p:cNvSpPr/>
            <p:nvPr/>
          </p:nvSpPr>
          <p:spPr>
            <a:xfrm>
              <a:off x="0" y="0"/>
              <a:ext cx="4191000" cy="3381300"/>
            </a:xfrm>
            <a:prstGeom prst="roundRect">
              <a:avLst>
                <a:gd fmla="val 3380" name="adj"/>
              </a:avLst>
            </a:prstGeom>
            <a:gradFill>
              <a:gsLst>
                <a:gs pos="0">
                  <a:srgbClr val="141414"/>
                </a:gs>
                <a:gs pos="100000">
                  <a:srgbClr val="050505"/>
                </a:gs>
              </a:gsLst>
              <a:lin ang="2700000" scaled="0"/>
            </a:gradFill>
            <a:ln cap="flat" cmpd="sng" w="14300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54"/>
            <p:cNvSpPr/>
            <p:nvPr/>
          </p:nvSpPr>
          <p:spPr>
            <a:xfrm>
              <a:off x="142875" y="476250"/>
              <a:ext cx="3905400" cy="2190900"/>
            </a:xfrm>
            <a:prstGeom prst="roundRect">
              <a:avLst>
                <a:gd fmla="val 3478" name="adj"/>
              </a:avLst>
            </a:prstGeom>
            <a:solidFill>
              <a:srgbClr val="020202"/>
            </a:solidFill>
            <a:ln cap="flat" cmpd="sng" w="9525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54"/>
            <p:cNvSpPr/>
            <p:nvPr/>
          </p:nvSpPr>
          <p:spPr>
            <a:xfrm>
              <a:off x="1809750" y="1285875"/>
              <a:ext cx="571500" cy="571500"/>
            </a:xfrm>
            <a:prstGeom prst="ellipse">
              <a:avLst/>
            </a:prstGeom>
            <a:solidFill>
              <a:srgbClr val="DEFF9A">
                <a:alpha val="15000"/>
              </a:srgbClr>
            </a:solidFill>
            <a:ln cap="flat" cmpd="sng" w="14300">
              <a:solidFill>
                <a:srgbClr val="DEFF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54"/>
            <p:cNvSpPr/>
            <p:nvPr/>
          </p:nvSpPr>
          <p:spPr>
            <a:xfrm>
              <a:off x="1885950" y="1362075"/>
              <a:ext cx="419100" cy="419100"/>
            </a:xfrm>
            <a:prstGeom prst="ellipse">
              <a:avLst/>
            </a:prstGeom>
            <a:solidFill>
              <a:srgbClr val="DEFF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54"/>
            <p:cNvSpPr/>
            <p:nvPr/>
          </p:nvSpPr>
          <p:spPr>
            <a:xfrm>
              <a:off x="2057400" y="1476375"/>
              <a:ext cx="133500" cy="1905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600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54"/>
            <p:cNvSpPr/>
            <p:nvPr/>
          </p:nvSpPr>
          <p:spPr>
            <a:xfrm>
              <a:off x="285750" y="2381250"/>
              <a:ext cx="3619500" cy="38100"/>
            </a:xfrm>
            <a:prstGeom prst="roundRect">
              <a:avLst>
                <a:gd fmla="val 50000" name="adj"/>
              </a:avLst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54"/>
            <p:cNvSpPr/>
            <p:nvPr/>
          </p:nvSpPr>
          <p:spPr>
            <a:xfrm>
              <a:off x="285750" y="2381250"/>
              <a:ext cx="1714500" cy="38100"/>
            </a:xfrm>
            <a:prstGeom prst="roundRect">
              <a:avLst>
                <a:gd fmla="val 50000" name="adj"/>
              </a:avLst>
            </a:prstGeom>
            <a:solidFill>
              <a:srgbClr val="DEFF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54"/>
            <p:cNvSpPr/>
            <p:nvPr/>
          </p:nvSpPr>
          <p:spPr>
            <a:xfrm>
              <a:off x="1962150" y="2362200"/>
              <a:ext cx="76200" cy="76200"/>
            </a:xfrm>
            <a:prstGeom prst="ellipse">
              <a:avLst/>
            </a:prstGeom>
            <a:solidFill>
              <a:srgbClr val="DEFF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54"/>
            <p:cNvSpPr txBox="1"/>
            <p:nvPr/>
          </p:nvSpPr>
          <p:spPr>
            <a:xfrm>
              <a:off x="142875" y="142875"/>
              <a:ext cx="3905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End-to-End Demo Sequence</a:t>
              </a:r>
              <a:endParaRPr b="1" sz="13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694" name="Google Shape;694;p54"/>
            <p:cNvSpPr txBox="1"/>
            <p:nvPr/>
          </p:nvSpPr>
          <p:spPr>
            <a:xfrm>
              <a:off x="142875" y="2809875"/>
              <a:ext cx="3905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[Embed / link demo video here]</a:t>
              </a:r>
              <a:endParaRPr b="1" sz="11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Click to play real-time system reaction</a:t>
              </a:r>
              <a:endParaRPr sz="950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699" name="Google Shape;699;p55"/>
          <p:cNvPicPr preferRelativeResize="0"/>
          <p:nvPr/>
        </p:nvPicPr>
        <p:blipFill rotWithShape="1">
          <a:blip r:embed="rId3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700" name="Google Shape;700;p5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1" name="Google Shape;701;p55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2" name="Google Shape;702;p5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3" name="Google Shape;703;p5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4" name="Google Shape;704;p5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5" name="Google Shape;705;p55"/>
          <p:cNvSpPr txBox="1"/>
          <p:nvPr/>
        </p:nvSpPr>
        <p:spPr>
          <a:xfrm>
            <a:off x="381000" y="3810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Compare With Existing Solutions </a:t>
            </a:r>
            <a:r>
              <a:rPr b="0" lang="en" sz="1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| Capability &amp; Novelty Matrix</a:t>
            </a:r>
            <a:endParaRPr b="1" sz="24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706" name="Google Shape;706;p55"/>
          <p:cNvGrpSpPr/>
          <p:nvPr/>
        </p:nvGrpSpPr>
        <p:grpSpPr>
          <a:xfrm>
            <a:off x="381000" y="1000125"/>
            <a:ext cx="3429000" cy="3571800"/>
            <a:chOff x="0" y="0"/>
            <a:chExt cx="3429000" cy="3571800"/>
          </a:xfrm>
        </p:grpSpPr>
        <p:sp>
          <p:nvSpPr>
            <p:cNvPr id="707" name="Google Shape;707;p55"/>
            <p:cNvSpPr/>
            <p:nvPr/>
          </p:nvSpPr>
          <p:spPr>
            <a:xfrm>
              <a:off x="0" y="0"/>
              <a:ext cx="3429000" cy="3571800"/>
            </a:xfrm>
            <a:prstGeom prst="roundRect">
              <a:avLst>
                <a:gd fmla="val 4444" name="adj"/>
              </a:avLst>
            </a:prstGeom>
            <a:solidFill>
              <a:srgbClr val="0D1117"/>
            </a:solidFill>
            <a:ln cap="flat" cmpd="sng" w="14300">
              <a:solidFill>
                <a:srgbClr val="2D37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55"/>
            <p:cNvSpPr txBox="1"/>
            <p:nvPr/>
          </p:nvSpPr>
          <p:spPr>
            <a:xfrm>
              <a:off x="190500" y="190500"/>
              <a:ext cx="3048000" cy="3190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The Purpose</a:t>
              </a:r>
              <a:endParaRPr b="1" sz="18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i="1" lang="en" sz="145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"Derq, AMAG, all of them, they're built for traffic engineers... They tell a city 'this junction is dangerous</a:t>
              </a:r>
              <a:r>
                <a:rPr i="1" lang="en" sz="145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.</a:t>
              </a:r>
              <a:endParaRPr b="1" sz="145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E2E8F0"/>
                  </a:solidFill>
                  <a:latin typeface="Urbanist"/>
                  <a:ea typeface="Urbanist"/>
                  <a:cs typeface="Urbanist"/>
                  <a:sym typeface="Urbanist"/>
                </a:rPr>
                <a:t>Nobody's building for the moment of the crash. So we did — the second our system confirms a collision, it doesn't wait for a human to react. The ambulance is already on standby... We're trying to buy back the minutes that save lives."</a:t>
              </a:r>
              <a:endParaRPr b="1" sz="135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5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709" name="Google Shape;709;p55"/>
          <p:cNvGrpSpPr/>
          <p:nvPr/>
        </p:nvGrpSpPr>
        <p:grpSpPr>
          <a:xfrm>
            <a:off x="4000500" y="1000125"/>
            <a:ext cx="4762500" cy="381000"/>
            <a:chOff x="381000" y="0"/>
            <a:chExt cx="4762500" cy="381000"/>
          </a:xfrm>
        </p:grpSpPr>
        <p:sp>
          <p:nvSpPr>
            <p:cNvPr id="710" name="Google Shape;710;p55"/>
            <p:cNvSpPr/>
            <p:nvPr/>
          </p:nvSpPr>
          <p:spPr>
            <a:xfrm>
              <a:off x="381000" y="0"/>
              <a:ext cx="4762500" cy="381000"/>
            </a:xfrm>
            <a:prstGeom prst="roundRect">
              <a:avLst>
                <a:gd fmla="val 20000" name="adj"/>
              </a:avLst>
            </a:prstGeom>
            <a:solidFill>
              <a:srgbClr val="1A202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55"/>
            <p:cNvSpPr txBox="1"/>
            <p:nvPr/>
          </p:nvSpPr>
          <p:spPr>
            <a:xfrm>
              <a:off x="381000" y="0"/>
              <a:ext cx="1524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Capability</a:t>
              </a:r>
              <a:endParaRPr b="1" sz="11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712" name="Google Shape;712;p55"/>
            <p:cNvSpPr txBox="1"/>
            <p:nvPr/>
          </p:nvSpPr>
          <p:spPr>
            <a:xfrm>
              <a:off x="1905000" y="0"/>
              <a:ext cx="10002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A0AEC0"/>
                  </a:solidFill>
                  <a:latin typeface="Urbanist"/>
                  <a:ea typeface="Urbanist"/>
                  <a:cs typeface="Urbanist"/>
                  <a:sym typeface="Urbanist"/>
                </a:rPr>
                <a:t>Derq</a:t>
              </a:r>
              <a:endParaRPr b="1" sz="1100">
                <a:solidFill>
                  <a:srgbClr val="A0AEC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713" name="Google Shape;713;p55"/>
            <p:cNvSpPr txBox="1"/>
            <p:nvPr/>
          </p:nvSpPr>
          <p:spPr>
            <a:xfrm>
              <a:off x="2905125" y="0"/>
              <a:ext cx="10953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A0AEC0"/>
                  </a:solidFill>
                  <a:latin typeface="Urbanist"/>
                  <a:ea typeface="Urbanist"/>
                  <a:cs typeface="Urbanist"/>
                  <a:sym typeface="Urbanist"/>
                </a:rPr>
                <a:t>AMAG / Transoft</a:t>
              </a:r>
              <a:endParaRPr b="1" sz="1100">
                <a:solidFill>
                  <a:srgbClr val="A0AEC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714" name="Google Shape;714;p55"/>
            <p:cNvSpPr txBox="1"/>
            <p:nvPr/>
          </p:nvSpPr>
          <p:spPr>
            <a:xfrm>
              <a:off x="4000500" y="0"/>
              <a:ext cx="1143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VegaNodi</a:t>
              </a:r>
              <a:r>
                <a:rPr b="1" lang="en" sz="11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 (Ours)</a:t>
              </a:r>
              <a:endParaRPr b="1" sz="11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715" name="Google Shape;715;p55"/>
          <p:cNvGrpSpPr/>
          <p:nvPr/>
        </p:nvGrpSpPr>
        <p:grpSpPr>
          <a:xfrm>
            <a:off x="4000500" y="1476375"/>
            <a:ext cx="4762500" cy="619200"/>
            <a:chOff x="381000" y="0"/>
            <a:chExt cx="4762500" cy="619200"/>
          </a:xfrm>
        </p:grpSpPr>
        <p:sp>
          <p:nvSpPr>
            <p:cNvPr id="716" name="Google Shape;716;p55"/>
            <p:cNvSpPr/>
            <p:nvPr/>
          </p:nvSpPr>
          <p:spPr>
            <a:xfrm>
              <a:off x="381000" y="0"/>
              <a:ext cx="4762500" cy="619200"/>
            </a:xfrm>
            <a:prstGeom prst="roundRect">
              <a:avLst>
                <a:gd fmla="val 12306" name="adj"/>
              </a:avLst>
            </a:prstGeom>
            <a:solidFill>
              <a:srgbClr val="0D1117"/>
            </a:solidFill>
            <a:ln cap="flat" cmpd="sng" w="9525">
              <a:solidFill>
                <a:srgbClr val="2D37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55"/>
            <p:cNvSpPr/>
            <p:nvPr/>
          </p:nvSpPr>
          <p:spPr>
            <a:xfrm>
              <a:off x="4010025" y="38100"/>
              <a:ext cx="1114500" cy="543000"/>
            </a:xfrm>
            <a:prstGeom prst="roundRect">
              <a:avLst>
                <a:gd fmla="val 10524" name="adj"/>
              </a:avLst>
            </a:prstGeom>
            <a:solidFill>
              <a:srgbClr val="DEFF9A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55"/>
            <p:cNvSpPr txBox="1"/>
            <p:nvPr/>
          </p:nvSpPr>
          <p:spPr>
            <a:xfrm>
              <a:off x="381000" y="0"/>
              <a:ext cx="1524000" cy="6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Detection &amp; tracking</a:t>
              </a:r>
              <a:endParaRPr b="0" sz="110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719" name="Google Shape;719;p55"/>
            <p:cNvSpPr txBox="1"/>
            <p:nvPr/>
          </p:nvSpPr>
          <p:spPr>
            <a:xfrm>
              <a:off x="1905000" y="0"/>
              <a:ext cx="1000200" cy="6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7625" lIns="47625" spcFirstLastPara="1" rIns="47625" wrap="square" tIns="47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Patented, enterprise</a:t>
              </a:r>
              <a:endParaRPr b="0" sz="10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720" name="Google Shape;720;p55"/>
            <p:cNvSpPr txBox="1"/>
            <p:nvPr/>
          </p:nvSpPr>
          <p:spPr>
            <a:xfrm>
              <a:off x="2905125" y="0"/>
              <a:ext cx="1095300" cy="6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7625" lIns="47625" spcFirstLastPara="1" rIns="47625" wrap="square" tIns="47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Video analytics</a:t>
              </a:r>
              <a:endParaRPr b="0" sz="10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721" name="Google Shape;721;p55"/>
            <p:cNvSpPr txBox="1"/>
            <p:nvPr/>
          </p:nvSpPr>
          <p:spPr>
            <a:xfrm>
              <a:off x="4000500" y="0"/>
              <a:ext cx="1143000" cy="6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7625" lIns="47625" spcFirstLastPara="1" rIns="47625" wrap="square" tIns="47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 Commodity, honestly labeled</a:t>
              </a:r>
              <a:endParaRPr b="1" sz="10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722" name="Google Shape;722;p55"/>
          <p:cNvGrpSpPr/>
          <p:nvPr/>
        </p:nvGrpSpPr>
        <p:grpSpPr>
          <a:xfrm>
            <a:off x="4000500" y="2190750"/>
            <a:ext cx="4762500" cy="619200"/>
            <a:chOff x="381000" y="0"/>
            <a:chExt cx="4762500" cy="619200"/>
          </a:xfrm>
        </p:grpSpPr>
        <p:sp>
          <p:nvSpPr>
            <p:cNvPr id="723" name="Google Shape;723;p55"/>
            <p:cNvSpPr/>
            <p:nvPr/>
          </p:nvSpPr>
          <p:spPr>
            <a:xfrm>
              <a:off x="381000" y="0"/>
              <a:ext cx="4762500" cy="619200"/>
            </a:xfrm>
            <a:prstGeom prst="roundRect">
              <a:avLst>
                <a:gd fmla="val 12306" name="adj"/>
              </a:avLst>
            </a:prstGeom>
            <a:solidFill>
              <a:srgbClr val="0D1117"/>
            </a:solidFill>
            <a:ln cap="flat" cmpd="sng" w="9525">
              <a:solidFill>
                <a:srgbClr val="2D37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55"/>
            <p:cNvSpPr/>
            <p:nvPr/>
          </p:nvSpPr>
          <p:spPr>
            <a:xfrm>
              <a:off x="4010025" y="38100"/>
              <a:ext cx="1114500" cy="543000"/>
            </a:xfrm>
            <a:prstGeom prst="roundRect">
              <a:avLst>
                <a:gd fmla="val 10524" name="adj"/>
              </a:avLst>
            </a:prstGeom>
            <a:solidFill>
              <a:srgbClr val="DEFF9A">
                <a:alpha val="8000"/>
              </a:srgbClr>
            </a:solidFill>
            <a:ln cap="flat" cmpd="sng" w="14300">
              <a:solidFill>
                <a:srgbClr val="DEFF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55"/>
            <p:cNvSpPr txBox="1"/>
            <p:nvPr/>
          </p:nvSpPr>
          <p:spPr>
            <a:xfrm>
              <a:off x="381000" y="0"/>
              <a:ext cx="1524000" cy="6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Live operator confidence</a:t>
              </a:r>
              <a:endParaRPr b="0" sz="110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726" name="Google Shape;726;p55"/>
            <p:cNvSpPr txBox="1"/>
            <p:nvPr/>
          </p:nvSpPr>
          <p:spPr>
            <a:xfrm>
              <a:off x="1905000" y="0"/>
              <a:ext cx="1000200" cy="6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7625" lIns="47625" spcFirstLastPara="1" rIns="47625" wrap="square" tIns="47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718096"/>
                  </a:solidFill>
                  <a:latin typeface="Urbanist"/>
                  <a:ea typeface="Urbanist"/>
                  <a:cs typeface="Urbanist"/>
                  <a:sym typeface="Urbanist"/>
                </a:rPr>
                <a:t>Not established</a:t>
              </a:r>
              <a:endParaRPr b="0" sz="950">
                <a:solidFill>
                  <a:srgbClr val="718096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727" name="Google Shape;727;p55"/>
            <p:cNvSpPr txBox="1"/>
            <p:nvPr/>
          </p:nvSpPr>
          <p:spPr>
            <a:xfrm>
              <a:off x="2905125" y="0"/>
              <a:ext cx="1095300" cy="6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7625" lIns="47625" spcFirstLastPara="1" rIns="47625" wrap="square" tIns="47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718096"/>
                  </a:solidFill>
                  <a:latin typeface="Urbanist"/>
                  <a:ea typeface="Urbanist"/>
                  <a:cs typeface="Urbanist"/>
                  <a:sym typeface="Urbanist"/>
                </a:rPr>
                <a:t>Not established</a:t>
              </a:r>
              <a:endParaRPr sz="950">
                <a:solidFill>
                  <a:srgbClr val="718096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728" name="Google Shape;728;p55"/>
            <p:cNvSpPr txBox="1"/>
            <p:nvPr/>
          </p:nvSpPr>
          <p:spPr>
            <a:xfrm>
              <a:off x="4000500" y="0"/>
              <a:ext cx="1143000" cy="6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7625" lIns="47625" spcFirstLastPara="1" rIns="47625" wrap="square" tIns="47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b="1" lang="en" sz="10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"4/5 signals" panel</a:t>
              </a:r>
              <a:endParaRPr b="1" sz="10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729" name="Google Shape;729;p55"/>
          <p:cNvGrpSpPr/>
          <p:nvPr/>
        </p:nvGrpSpPr>
        <p:grpSpPr>
          <a:xfrm>
            <a:off x="4000500" y="2905125"/>
            <a:ext cx="4762500" cy="619200"/>
            <a:chOff x="381000" y="0"/>
            <a:chExt cx="4762500" cy="619200"/>
          </a:xfrm>
        </p:grpSpPr>
        <p:sp>
          <p:nvSpPr>
            <p:cNvPr id="730" name="Google Shape;730;p55"/>
            <p:cNvSpPr/>
            <p:nvPr/>
          </p:nvSpPr>
          <p:spPr>
            <a:xfrm>
              <a:off x="381000" y="0"/>
              <a:ext cx="4762500" cy="619200"/>
            </a:xfrm>
            <a:prstGeom prst="roundRect">
              <a:avLst>
                <a:gd fmla="val 12306" name="adj"/>
              </a:avLst>
            </a:prstGeom>
            <a:solidFill>
              <a:srgbClr val="0D1117"/>
            </a:solidFill>
            <a:ln cap="flat" cmpd="sng" w="9525">
              <a:solidFill>
                <a:srgbClr val="2D37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55"/>
            <p:cNvSpPr/>
            <p:nvPr/>
          </p:nvSpPr>
          <p:spPr>
            <a:xfrm>
              <a:off x="4010025" y="38100"/>
              <a:ext cx="1114500" cy="543000"/>
            </a:xfrm>
            <a:prstGeom prst="roundRect">
              <a:avLst>
                <a:gd fmla="val 10524" name="adj"/>
              </a:avLst>
            </a:prstGeom>
            <a:solidFill>
              <a:srgbClr val="DEFF9A">
                <a:alpha val="8000"/>
              </a:srgbClr>
            </a:solidFill>
            <a:ln cap="flat" cmpd="sng" w="14300">
              <a:solidFill>
                <a:srgbClr val="DEFF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55"/>
            <p:cNvSpPr txBox="1"/>
            <p:nvPr/>
          </p:nvSpPr>
          <p:spPr>
            <a:xfrm>
              <a:off x="381000" y="0"/>
              <a:ext cx="1524000" cy="6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Multi-agency dispatch</a:t>
              </a:r>
              <a:endParaRPr b="0" sz="110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733" name="Google Shape;733;p55"/>
            <p:cNvSpPr txBox="1"/>
            <p:nvPr/>
          </p:nvSpPr>
          <p:spPr>
            <a:xfrm>
              <a:off x="1905000" y="0"/>
              <a:ext cx="1000200" cy="6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7625" lIns="47625" spcFirstLastPara="1" rIns="47625" wrap="square" tIns="47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718096"/>
                  </a:solidFill>
                  <a:latin typeface="Urbanist"/>
                  <a:ea typeface="Urbanist"/>
                  <a:cs typeface="Urbanist"/>
                  <a:sym typeface="Urbanist"/>
                </a:rPr>
                <a:t>Not established</a:t>
              </a:r>
              <a:endParaRPr b="0" sz="950">
                <a:solidFill>
                  <a:srgbClr val="718096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734" name="Google Shape;734;p55"/>
            <p:cNvSpPr txBox="1"/>
            <p:nvPr/>
          </p:nvSpPr>
          <p:spPr>
            <a:xfrm>
              <a:off x="2905125" y="0"/>
              <a:ext cx="1095300" cy="6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7625" lIns="47625" spcFirstLastPara="1" rIns="47625" wrap="square" tIns="47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718096"/>
                  </a:solidFill>
                  <a:latin typeface="Urbanist"/>
                  <a:ea typeface="Urbanist"/>
                  <a:cs typeface="Urbanist"/>
                  <a:sym typeface="Urbanist"/>
                </a:rPr>
                <a:t>Not established</a:t>
              </a:r>
              <a:endParaRPr b="0" sz="950">
                <a:solidFill>
                  <a:srgbClr val="718096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735" name="Google Shape;735;p55"/>
            <p:cNvSpPr txBox="1"/>
            <p:nvPr/>
          </p:nvSpPr>
          <p:spPr>
            <a:xfrm>
              <a:off x="4000500" y="0"/>
              <a:ext cx="1143000" cy="6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7625" lIns="47625" spcFirstLastPara="1" rIns="47625" wrap="square" tIns="47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 Core Claim</a:t>
              </a:r>
              <a:endParaRPr b="1" sz="10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736" name="Google Shape;736;p55"/>
          <p:cNvGrpSpPr/>
          <p:nvPr/>
        </p:nvGrpSpPr>
        <p:grpSpPr>
          <a:xfrm>
            <a:off x="4000500" y="3619500"/>
            <a:ext cx="4762500" cy="619200"/>
            <a:chOff x="381000" y="0"/>
            <a:chExt cx="4762500" cy="619200"/>
          </a:xfrm>
        </p:grpSpPr>
        <p:sp>
          <p:nvSpPr>
            <p:cNvPr id="737" name="Google Shape;737;p55"/>
            <p:cNvSpPr/>
            <p:nvPr/>
          </p:nvSpPr>
          <p:spPr>
            <a:xfrm>
              <a:off x="381000" y="0"/>
              <a:ext cx="4762500" cy="619200"/>
            </a:xfrm>
            <a:prstGeom prst="roundRect">
              <a:avLst>
                <a:gd fmla="val 12306" name="adj"/>
              </a:avLst>
            </a:prstGeom>
            <a:solidFill>
              <a:srgbClr val="0D1117"/>
            </a:solidFill>
            <a:ln cap="flat" cmpd="sng" w="9525">
              <a:solidFill>
                <a:srgbClr val="2D37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55"/>
            <p:cNvSpPr/>
            <p:nvPr/>
          </p:nvSpPr>
          <p:spPr>
            <a:xfrm>
              <a:off x="4010025" y="38100"/>
              <a:ext cx="1114500" cy="543000"/>
            </a:xfrm>
            <a:prstGeom prst="roundRect">
              <a:avLst>
                <a:gd fmla="val 10524" name="adj"/>
              </a:avLst>
            </a:prstGeom>
            <a:solidFill>
              <a:srgbClr val="DEFF9A">
                <a:alpha val="8000"/>
              </a:srgbClr>
            </a:solidFill>
            <a:ln cap="flat" cmpd="sng" w="14300">
              <a:solidFill>
                <a:srgbClr val="DEFF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55"/>
            <p:cNvSpPr txBox="1"/>
            <p:nvPr/>
          </p:nvSpPr>
          <p:spPr>
            <a:xfrm>
              <a:off x="381000" y="0"/>
              <a:ext cx="1524000" cy="6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Two-tier authority model</a:t>
              </a:r>
              <a:endParaRPr b="0" sz="110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740" name="Google Shape;740;p55"/>
            <p:cNvSpPr txBox="1"/>
            <p:nvPr/>
          </p:nvSpPr>
          <p:spPr>
            <a:xfrm>
              <a:off x="1905000" y="0"/>
              <a:ext cx="1000200" cy="6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7625" lIns="47625" spcFirstLastPara="1" rIns="47625" wrap="square" tIns="47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718096"/>
                  </a:solidFill>
                  <a:latin typeface="Urbanist"/>
                  <a:ea typeface="Urbanist"/>
                  <a:cs typeface="Urbanist"/>
                  <a:sym typeface="Urbanist"/>
                </a:rPr>
                <a:t>Not established</a:t>
              </a:r>
              <a:endParaRPr b="0" sz="950">
                <a:solidFill>
                  <a:srgbClr val="718096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741" name="Google Shape;741;p55"/>
            <p:cNvSpPr txBox="1"/>
            <p:nvPr/>
          </p:nvSpPr>
          <p:spPr>
            <a:xfrm>
              <a:off x="2905125" y="0"/>
              <a:ext cx="1095300" cy="6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7625" lIns="47625" spcFirstLastPara="1" rIns="47625" wrap="square" tIns="47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718096"/>
                  </a:solidFill>
                  <a:latin typeface="Urbanist"/>
                  <a:ea typeface="Urbanist"/>
                  <a:cs typeface="Urbanist"/>
                  <a:sym typeface="Urbanist"/>
                </a:rPr>
                <a:t>Not established</a:t>
              </a:r>
              <a:endParaRPr b="0" sz="950">
                <a:solidFill>
                  <a:srgbClr val="718096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742" name="Google Shape;742;p55"/>
            <p:cNvSpPr txBox="1"/>
            <p:nvPr/>
          </p:nvSpPr>
          <p:spPr>
            <a:xfrm>
              <a:off x="4000500" y="0"/>
              <a:ext cx="1143000" cy="6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7625" lIns="47625" spcFirstLastPara="1" rIns="47625" wrap="square" tIns="47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 Gated action</a:t>
              </a:r>
              <a:endParaRPr b="1" sz="10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7" name="Google Shape;747;p5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8" name="Google Shape;748;p5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9" name="Google Shape;749;p5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0" name="Google Shape;750;p56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Core Innovation </a:t>
            </a:r>
            <a:r>
              <a:rPr b="0" lang="en" sz="1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| The  Response Engine</a:t>
            </a:r>
            <a:endParaRPr b="1" sz="24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751" name="Google Shape;751;p56"/>
          <p:cNvGrpSpPr/>
          <p:nvPr/>
        </p:nvGrpSpPr>
        <p:grpSpPr>
          <a:xfrm>
            <a:off x="381000" y="952500"/>
            <a:ext cx="8382000" cy="619200"/>
            <a:chOff x="0" y="0"/>
            <a:chExt cx="8382000" cy="619200"/>
          </a:xfrm>
        </p:grpSpPr>
        <p:sp>
          <p:nvSpPr>
            <p:cNvPr id="752" name="Google Shape;752;p56"/>
            <p:cNvSpPr/>
            <p:nvPr/>
          </p:nvSpPr>
          <p:spPr>
            <a:xfrm>
              <a:off x="0" y="0"/>
              <a:ext cx="8382000" cy="619200"/>
            </a:xfrm>
            <a:prstGeom prst="roundRect">
              <a:avLst>
                <a:gd fmla="val 9230" name="adj"/>
              </a:avLst>
            </a:prstGeom>
            <a:solidFill>
              <a:srgbClr val="14141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56"/>
            <p:cNvSpPr txBox="1"/>
            <p:nvPr/>
          </p:nvSpPr>
          <p:spPr>
            <a:xfrm>
              <a:off x="142875" y="95250"/>
              <a:ext cx="8096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Detection and risk-scoring are the </a:t>
              </a:r>
              <a:r>
                <a:rPr i="1" lang="en" sz="11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means</a:t>
              </a:r>
              <a:r>
                <a:rPr lang="en" sz="11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. The actual product is: </a:t>
              </a:r>
              <a:r>
                <a:rPr b="1" lang="en" sz="11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the moment a crash is confirmed, the golden-hour clock starts running for the system instead of for a bystander.</a:t>
              </a:r>
              <a:endParaRPr sz="11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754" name="Google Shape;754;p56"/>
          <p:cNvGrpSpPr/>
          <p:nvPr/>
        </p:nvGrpSpPr>
        <p:grpSpPr>
          <a:xfrm>
            <a:off x="381000" y="1762125"/>
            <a:ext cx="2619300" cy="2667000"/>
            <a:chOff x="0" y="0"/>
            <a:chExt cx="2619300" cy="2667000"/>
          </a:xfrm>
        </p:grpSpPr>
        <p:sp>
          <p:nvSpPr>
            <p:cNvPr id="755" name="Google Shape;755;p56"/>
            <p:cNvSpPr/>
            <p:nvPr/>
          </p:nvSpPr>
          <p:spPr>
            <a:xfrm>
              <a:off x="0" y="0"/>
              <a:ext cx="2619300" cy="2667000"/>
            </a:xfrm>
            <a:prstGeom prst="roundRect">
              <a:avLst>
                <a:gd fmla="val 2909" name="adj"/>
              </a:avLst>
            </a:prstGeom>
            <a:solidFill>
              <a:srgbClr val="0A0A0A"/>
            </a:solidFill>
            <a:ln cap="flat" cmpd="sng" w="9525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56"/>
            <p:cNvSpPr txBox="1"/>
            <p:nvPr/>
          </p:nvSpPr>
          <p:spPr>
            <a:xfrm>
              <a:off x="142875" y="142875"/>
              <a:ext cx="23337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Two-Tier Authority</a:t>
              </a:r>
              <a:endParaRPr b="1" sz="13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Advisory Tier</a:t>
              </a:r>
              <a:br>
                <a:rPr lang="en" sz="110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</a:br>
              <a:r>
                <a:rPr lang="en" sz="110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Continuous fuzzy risk score. Tracks every interaction, never touches the real world.</a:t>
              </a:r>
              <a:endParaRPr sz="1100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Action Tier</a:t>
              </a:r>
              <a:br>
                <a:rPr lang="en" sz="110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</a:br>
              <a:r>
                <a:rPr lang="en" sz="110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Discrete k-of-n consensus gate (≥4 of 5 independent signals). The </a:t>
              </a:r>
              <a:r>
                <a:rPr i="1" lang="en" sz="110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only</a:t>
              </a:r>
              <a:r>
                <a:rPr lang="en" sz="110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 path allowed to trigger a real-world response.</a:t>
              </a:r>
              <a:endParaRPr sz="1100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757" name="Google Shape;757;p56"/>
          <p:cNvGrpSpPr/>
          <p:nvPr/>
        </p:nvGrpSpPr>
        <p:grpSpPr>
          <a:xfrm>
            <a:off x="3257550" y="1762125"/>
            <a:ext cx="2628900" cy="2667000"/>
            <a:chOff x="0" y="0"/>
            <a:chExt cx="2628900" cy="2667000"/>
          </a:xfrm>
        </p:grpSpPr>
        <p:sp>
          <p:nvSpPr>
            <p:cNvPr id="758" name="Google Shape;758;p56"/>
            <p:cNvSpPr/>
            <p:nvPr/>
          </p:nvSpPr>
          <p:spPr>
            <a:xfrm>
              <a:off x="0" y="0"/>
              <a:ext cx="2628900" cy="2667000"/>
            </a:xfrm>
            <a:prstGeom prst="roundRect">
              <a:avLst>
                <a:gd fmla="val 2898" name="adj"/>
              </a:avLst>
            </a:prstGeom>
            <a:solidFill>
              <a:srgbClr val="0A0A0A"/>
            </a:solidFill>
            <a:ln cap="flat" cmpd="sng" w="9525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56"/>
            <p:cNvSpPr txBox="1"/>
            <p:nvPr/>
          </p:nvSpPr>
          <p:spPr>
            <a:xfrm>
              <a:off x="142875" y="142875"/>
              <a:ext cx="23433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Instant Fan-Out</a:t>
              </a:r>
              <a:endParaRPr b="1" sz="13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Confirm = 1 automatically triggers 4 stakeholders simultaneously:</a:t>
              </a:r>
              <a:endParaRPr b="0" sz="105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B0B0B0"/>
                </a:buClr>
                <a:buSzPts val="1050"/>
                <a:buFont typeface="Urbanist"/>
                <a:buChar char="●"/>
              </a:pPr>
              <a:r>
                <a:rPr b="0" lang="en" sz="105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Ambulance:</a:t>
              </a:r>
              <a:r>
                <a:rPr lang="en" sz="105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 Standby with location + ETA</a:t>
              </a:r>
              <a:endParaRPr sz="1050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B0B0B0"/>
                </a:buClr>
                <a:buSzPts val="1050"/>
                <a:buFont typeface="Urbanist"/>
                <a:buChar char="●"/>
              </a:pPr>
              <a:r>
                <a:rPr b="0" lang="en" sz="105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Police:</a:t>
              </a:r>
              <a:r>
                <a:rPr lang="en" sz="105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 Dispatched with tactical route &amp; priority</a:t>
              </a:r>
              <a:endParaRPr sz="1050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B0B0B0"/>
                </a:buClr>
                <a:buSzPts val="1050"/>
                <a:buFont typeface="Urbanist"/>
                <a:buChar char="●"/>
              </a:pPr>
              <a:r>
                <a:rPr b="0" lang="en" sz="105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Hospital:</a:t>
              </a:r>
              <a:r>
                <a:rPr lang="en" sz="105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 Pre-alerted for trauma triage</a:t>
              </a:r>
              <a:endParaRPr sz="1050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B0B0B0"/>
                </a:buClr>
                <a:buSzPts val="1050"/>
                <a:buFont typeface="Urbanist"/>
                <a:buChar char="●"/>
              </a:pPr>
              <a:r>
                <a:rPr b="0" lang="en" sz="105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Citizens:</a:t>
              </a:r>
              <a:r>
                <a:rPr lang="en" sz="105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 Warned to clear the corridor</a:t>
              </a:r>
              <a:endParaRPr sz="1050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760" name="Google Shape;760;p56"/>
          <p:cNvGrpSpPr/>
          <p:nvPr/>
        </p:nvGrpSpPr>
        <p:grpSpPr>
          <a:xfrm>
            <a:off x="6143625" y="1762125"/>
            <a:ext cx="2619300" cy="2667000"/>
            <a:chOff x="0" y="0"/>
            <a:chExt cx="2619300" cy="2667000"/>
          </a:xfrm>
        </p:grpSpPr>
        <p:sp>
          <p:nvSpPr>
            <p:cNvPr id="761" name="Google Shape;761;p56"/>
            <p:cNvSpPr/>
            <p:nvPr/>
          </p:nvSpPr>
          <p:spPr>
            <a:xfrm>
              <a:off x="0" y="0"/>
              <a:ext cx="2619300" cy="2667000"/>
            </a:xfrm>
            <a:prstGeom prst="roundRect">
              <a:avLst>
                <a:gd fmla="val 2909" name="adj"/>
              </a:avLst>
            </a:prstGeom>
            <a:solidFill>
              <a:srgbClr val="0A0A0A"/>
            </a:solidFill>
            <a:ln cap="flat" cmpd="sng" w="9525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56"/>
            <p:cNvSpPr txBox="1"/>
            <p:nvPr/>
          </p:nvSpPr>
          <p:spPr>
            <a:xfrm>
              <a:off x="142875" y="142875"/>
              <a:ext cx="23337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Why It Matters</a:t>
              </a:r>
              <a:endParaRPr b="1" sz="13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Authorizing </a:t>
              </a:r>
              <a:r>
                <a:rPr b="1" lang="en" sz="105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real-world emergency action</a:t>
              </a:r>
              <a:r>
                <a:rPr lang="en" sz="105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, not just a dashboard flag. Consensus gate prevents costly false positives/negatives.</a:t>
              </a:r>
              <a:endParaRPr sz="1050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The Differentiator:</a:t>
              </a:r>
              <a:endParaRPr b="0" sz="105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rPr>
                <a:t>An active tracking-to-dispatch loop with zero human-in-the-loop delay before first response.</a:t>
              </a:r>
              <a:endParaRPr sz="1050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7" name="Google Shape;767;p5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8" name="Google Shape;768;p5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9" name="Google Shape;769;p5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70" name="Google Shape;770;p57"/>
          <p:cNvSpPr txBox="1"/>
          <p:nvPr/>
        </p:nvSpPr>
        <p:spPr>
          <a:xfrm>
            <a:off x="381000" y="3810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Summary &amp; Future Work </a:t>
            </a:r>
            <a:r>
              <a:rPr b="0" lang="en" sz="1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| Project Milestones &amp; Next Steps</a:t>
            </a:r>
            <a:endParaRPr b="1" sz="24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771" name="Google Shape;771;p57"/>
          <p:cNvGrpSpPr/>
          <p:nvPr/>
        </p:nvGrpSpPr>
        <p:grpSpPr>
          <a:xfrm>
            <a:off x="381000" y="1000125"/>
            <a:ext cx="4000500" cy="3429000"/>
            <a:chOff x="0" y="0"/>
            <a:chExt cx="4000500" cy="3429000"/>
          </a:xfrm>
        </p:grpSpPr>
        <p:sp>
          <p:nvSpPr>
            <p:cNvPr id="772" name="Google Shape;772;p57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0A0A0A"/>
            </a:solidFill>
            <a:ln cap="flat" cmpd="sng" w="14300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57"/>
            <p:cNvSpPr/>
            <p:nvPr/>
          </p:nvSpPr>
          <p:spPr>
            <a:xfrm>
              <a:off x="142875" y="17145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DEFF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57"/>
            <p:cNvSpPr txBox="1"/>
            <p:nvPr/>
          </p:nvSpPr>
          <p:spPr>
            <a:xfrm>
              <a:off x="285750" y="142875"/>
              <a:ext cx="35718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Summary</a:t>
              </a:r>
              <a:endParaRPr b="1" sz="14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• </a:t>
              </a:r>
              <a:r>
                <a:rPr lang="en" sz="105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The </a:t>
              </a:r>
              <a:r>
                <a:rPr b="0" lang="en" sz="105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 Response Engine:</a:t>
              </a:r>
              <a:r>
                <a:rPr b="0" lang="en" sz="105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VengaNodi</a:t>
              </a:r>
              <a:r>
                <a:rPr b="0" lang="en" sz="105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'</a:t>
              </a:r>
              <a:r>
                <a:rPr b="0" lang="en" sz="105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s core contribution is an autonomous, confidence-gated tracking-to-dispatch loop starting response instantly upon crash confirmation.</a:t>
              </a:r>
              <a:endParaRPr b="0" sz="105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• Two-Tier Authority Model:</a:t>
              </a:r>
              <a:r>
                <a:rPr b="0" lang="en" sz="105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Continuous advisory fuzzy risk paired with discrete consensus-gated action ensures trustworthy autonomous dispatch.</a:t>
              </a:r>
              <a:endParaRPr b="0" sz="105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• End-to-End Demo:</a:t>
              </a:r>
              <a:r>
                <a:rPr b="0" lang="en" sz="105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Built and demoed from perception to 4-agency dispatch in just 36 hours with zero manual relay.</a:t>
              </a:r>
              <a:endParaRPr b="0" sz="105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775" name="Google Shape;775;p57"/>
          <p:cNvGrpSpPr/>
          <p:nvPr/>
        </p:nvGrpSpPr>
        <p:grpSpPr>
          <a:xfrm>
            <a:off x="4572000" y="1000125"/>
            <a:ext cx="4191000" cy="3429000"/>
            <a:chOff x="0" y="0"/>
            <a:chExt cx="4191000" cy="3429000"/>
          </a:xfrm>
        </p:grpSpPr>
        <p:sp>
          <p:nvSpPr>
            <p:cNvPr id="776" name="Google Shape;776;p57"/>
            <p:cNvSpPr/>
            <p:nvPr/>
          </p:nvSpPr>
          <p:spPr>
            <a:xfrm>
              <a:off x="0" y="0"/>
              <a:ext cx="4191000" cy="3429000"/>
            </a:xfrm>
            <a:prstGeom prst="roundRect">
              <a:avLst>
                <a:gd fmla="val 3333" name="adj"/>
              </a:avLst>
            </a:prstGeom>
            <a:solidFill>
              <a:srgbClr val="0D1117"/>
            </a:solidFill>
            <a:ln cap="flat" cmpd="sng" w="14300">
              <a:solidFill>
                <a:srgbClr val="2D37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57"/>
            <p:cNvSpPr/>
            <p:nvPr/>
          </p:nvSpPr>
          <p:spPr>
            <a:xfrm>
              <a:off x="142875" y="17145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DEFF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57"/>
            <p:cNvSpPr txBox="1"/>
            <p:nvPr/>
          </p:nvSpPr>
          <p:spPr>
            <a:xfrm>
              <a:off x="285750" y="142875"/>
              <a:ext cx="37623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Future Work</a:t>
              </a:r>
              <a:endParaRPr b="1" sz="14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-2952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Urbanist"/>
                <a:buChar char="●"/>
              </a:pPr>
              <a:r>
                <a:rPr b="0" lang="en" sz="105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Threshold Validation:</a:t>
              </a:r>
              <a:r>
                <a:rPr b="0" lang="en" sz="105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Validate crash outcomes against real historical data.</a:t>
              </a:r>
              <a:endParaRPr b="0" sz="105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-2952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Urbanist"/>
                <a:buChar char="●"/>
              </a:pPr>
              <a:r>
                <a:rPr b="0" lang="en" sz="105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Uncertainty Propagation:</a:t>
              </a:r>
              <a:r>
                <a:rPr b="0" lang="en" sz="105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Wire Kalman covariance formula into TTC confidence.</a:t>
              </a:r>
              <a:endParaRPr b="0" sz="105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-2952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Urbanist"/>
                <a:buChar char="●"/>
              </a:pPr>
              <a:r>
                <a:rPr b="0" lang="en" sz="105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Multi-Camera Fusion:</a:t>
              </a:r>
              <a:r>
                <a:rPr b="0" lang="en" sz="105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Scale coverage to intersection-wide systems.</a:t>
              </a:r>
              <a:endParaRPr b="0" sz="105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-2952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Urbanist"/>
                <a:buChar char="●"/>
              </a:pPr>
              <a:r>
                <a:rPr b="0" lang="en" sz="105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Homography Calibration:</a:t>
              </a:r>
              <a:r>
                <a:rPr b="0" lang="en" sz="105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Automate per-camera manual/semi-manual setup.</a:t>
              </a:r>
              <a:endParaRPr b="0" sz="105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-2952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Urbanist"/>
                <a:buChar char="●"/>
              </a:pPr>
              <a:r>
                <a:rPr b="0" lang="en" sz="105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Hardware Integration:</a:t>
              </a:r>
              <a:r>
                <a:rPr b="0" lang="en" sz="105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Implement live signal-controller and real auto-calls.</a:t>
              </a:r>
              <a:endParaRPr b="0" sz="105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-2952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Urbanist"/>
                <a:buChar char="●"/>
              </a:pPr>
              <a:r>
                <a:rPr b="0" lang="en" sz="105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Pilot Deployment:</a:t>
              </a:r>
              <a:r>
                <a:rPr b="0" lang="en" sz="105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Measure real-world false rates and golden-hour savings.</a:t>
              </a:r>
              <a:endParaRPr b="0" sz="105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58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Production Roadmap </a:t>
            </a:r>
            <a:r>
              <a:rPr b="0" lang="en" sz="1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| Next-phase development priorities</a:t>
            </a:r>
            <a:endParaRPr b="1" sz="24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784" name="Google Shape;784;p58"/>
          <p:cNvGrpSpPr/>
          <p:nvPr/>
        </p:nvGrpSpPr>
        <p:grpSpPr>
          <a:xfrm>
            <a:off x="381000" y="1143000"/>
            <a:ext cx="1952700" cy="3143400"/>
            <a:chOff x="0" y="0"/>
            <a:chExt cx="1952700" cy="3143400"/>
          </a:xfrm>
        </p:grpSpPr>
        <p:sp>
          <p:nvSpPr>
            <p:cNvPr id="785" name="Google Shape;785;p58"/>
            <p:cNvSpPr/>
            <p:nvPr/>
          </p:nvSpPr>
          <p:spPr>
            <a:xfrm>
              <a:off x="0" y="0"/>
              <a:ext cx="1952700" cy="3143400"/>
            </a:xfrm>
            <a:prstGeom prst="roundRect">
              <a:avLst>
                <a:gd fmla="val 5853" name="adj"/>
              </a:avLst>
            </a:prstGeom>
            <a:solidFill>
              <a:srgbClr val="0A0A0A"/>
            </a:solidFill>
            <a:ln cap="flat" cmpd="sng" w="14300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58"/>
            <p:cNvSpPr/>
            <p:nvPr/>
          </p:nvSpPr>
          <p:spPr>
            <a:xfrm>
              <a:off x="142875" y="17145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DEFF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87" name="Google Shape;787;p58"/>
            <p:cNvGrpSpPr/>
            <p:nvPr/>
          </p:nvGrpSpPr>
          <p:grpSpPr>
            <a:xfrm>
              <a:off x="285750" y="142875"/>
              <a:ext cx="1524000" cy="2857500"/>
              <a:chOff x="0" y="0"/>
              <a:chExt cx="1524000" cy="2857500"/>
            </a:xfrm>
          </p:grpSpPr>
          <p:sp>
            <p:nvSpPr>
              <p:cNvPr id="788" name="Google Shape;788;p58"/>
              <p:cNvSpPr/>
              <p:nvPr/>
            </p:nvSpPr>
            <p:spPr>
              <a:xfrm>
                <a:off x="0" y="0"/>
                <a:ext cx="1524000" cy="2857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58"/>
              <p:cNvSpPr txBox="1"/>
              <p:nvPr/>
            </p:nvSpPr>
            <p:spPr>
              <a:xfrm>
                <a:off x="0" y="0"/>
                <a:ext cx="15240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2800">
                    <a:solidFill>
                      <a:srgbClr val="DEFF9A"/>
                    </a:solidFill>
                    <a:latin typeface="Urbanist ExtraBold"/>
                    <a:ea typeface="Urbanist ExtraBold"/>
                    <a:cs typeface="Urbanist ExtraBold"/>
                    <a:sym typeface="Urbanist ExtraBold"/>
                  </a:rPr>
                  <a:t>01</a:t>
                </a:r>
                <a:endParaRPr b="0" sz="2800">
                  <a:solidFill>
                    <a:srgbClr val="DEFF9A"/>
                  </a:solidFill>
                  <a:latin typeface="Urbanist ExtraBold"/>
                  <a:ea typeface="Urbanist ExtraBold"/>
                  <a:cs typeface="Urbanist ExtraBold"/>
                  <a:sym typeface="Urbanist ExtraBold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Multi-Camera Fusion</a:t>
                </a:r>
                <a:endParaRPr b="1" sz="13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B0B0B0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Fuse overlapping camera feeds into one unified risk picture. Inference stays on-device to keep real-time alert latency intact.</a:t>
                </a:r>
                <a:endParaRPr b="0" sz="100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</p:grpSp>
      <p:grpSp>
        <p:nvGrpSpPr>
          <p:cNvPr id="790" name="Google Shape;790;p58"/>
          <p:cNvGrpSpPr/>
          <p:nvPr/>
        </p:nvGrpSpPr>
        <p:grpSpPr>
          <a:xfrm>
            <a:off x="2476500" y="1143000"/>
            <a:ext cx="1952700" cy="3143400"/>
            <a:chOff x="0" y="0"/>
            <a:chExt cx="1952700" cy="3143400"/>
          </a:xfrm>
        </p:grpSpPr>
        <p:sp>
          <p:nvSpPr>
            <p:cNvPr id="791" name="Google Shape;791;p58"/>
            <p:cNvSpPr/>
            <p:nvPr/>
          </p:nvSpPr>
          <p:spPr>
            <a:xfrm>
              <a:off x="0" y="0"/>
              <a:ext cx="1952700" cy="3143400"/>
            </a:xfrm>
            <a:prstGeom prst="roundRect">
              <a:avLst>
                <a:gd fmla="val 5853" name="adj"/>
              </a:avLst>
            </a:prstGeom>
            <a:solidFill>
              <a:srgbClr val="0A0A0A"/>
            </a:solidFill>
            <a:ln cap="flat" cmpd="sng" w="14300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58"/>
            <p:cNvSpPr/>
            <p:nvPr/>
          </p:nvSpPr>
          <p:spPr>
            <a:xfrm>
              <a:off x="142875" y="17145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DEFF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93" name="Google Shape;793;p58"/>
            <p:cNvGrpSpPr/>
            <p:nvPr/>
          </p:nvGrpSpPr>
          <p:grpSpPr>
            <a:xfrm>
              <a:off x="285750" y="142875"/>
              <a:ext cx="1524000" cy="2857500"/>
              <a:chOff x="0" y="0"/>
              <a:chExt cx="1524000" cy="2857500"/>
            </a:xfrm>
          </p:grpSpPr>
          <p:sp>
            <p:nvSpPr>
              <p:cNvPr id="794" name="Google Shape;794;p58"/>
              <p:cNvSpPr/>
              <p:nvPr/>
            </p:nvSpPr>
            <p:spPr>
              <a:xfrm>
                <a:off x="0" y="0"/>
                <a:ext cx="1524000" cy="2857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58"/>
              <p:cNvSpPr txBox="1"/>
              <p:nvPr/>
            </p:nvSpPr>
            <p:spPr>
              <a:xfrm>
                <a:off x="0" y="0"/>
                <a:ext cx="15240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2800">
                    <a:solidFill>
                      <a:srgbClr val="DEFF9A"/>
                    </a:solidFill>
                    <a:latin typeface="Urbanist ExtraBold"/>
                    <a:ea typeface="Urbanist ExtraBold"/>
                    <a:cs typeface="Urbanist ExtraBold"/>
                    <a:sym typeface="Urbanist ExtraBold"/>
                  </a:rPr>
                  <a:t>02</a:t>
                </a:r>
                <a:endParaRPr b="0" sz="2800">
                  <a:solidFill>
                    <a:srgbClr val="DEFF9A"/>
                  </a:solidFill>
                  <a:latin typeface="Urbanist ExtraBold"/>
                  <a:ea typeface="Urbanist ExtraBold"/>
                  <a:cs typeface="Urbanist ExtraBold"/>
                  <a:sym typeface="Urbanist ExtraBold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PTZ Camera Steering</a:t>
                </a:r>
                <a:endParaRPr b="1" sz="13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B0B0B0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Actively pan / tilt / zoom toward a flagged risk instead of relying on a fixed field of view — turning cameras into active sensors.</a:t>
                </a:r>
                <a:endParaRPr b="0" sz="100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</p:grpSp>
      <p:grpSp>
        <p:nvGrpSpPr>
          <p:cNvPr id="796" name="Google Shape;796;p58"/>
          <p:cNvGrpSpPr/>
          <p:nvPr/>
        </p:nvGrpSpPr>
        <p:grpSpPr>
          <a:xfrm>
            <a:off x="4572000" y="1143000"/>
            <a:ext cx="1952700" cy="3143400"/>
            <a:chOff x="0" y="0"/>
            <a:chExt cx="1952700" cy="3143400"/>
          </a:xfrm>
        </p:grpSpPr>
        <p:sp>
          <p:nvSpPr>
            <p:cNvPr id="797" name="Google Shape;797;p58"/>
            <p:cNvSpPr/>
            <p:nvPr/>
          </p:nvSpPr>
          <p:spPr>
            <a:xfrm>
              <a:off x="0" y="0"/>
              <a:ext cx="1952700" cy="3143400"/>
            </a:xfrm>
            <a:prstGeom prst="roundRect">
              <a:avLst>
                <a:gd fmla="val 5853" name="adj"/>
              </a:avLst>
            </a:prstGeom>
            <a:solidFill>
              <a:srgbClr val="0A0A0A"/>
            </a:solidFill>
            <a:ln cap="flat" cmpd="sng" w="14300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58"/>
            <p:cNvSpPr/>
            <p:nvPr/>
          </p:nvSpPr>
          <p:spPr>
            <a:xfrm>
              <a:off x="142875" y="17145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DEFF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99" name="Google Shape;799;p58"/>
            <p:cNvGrpSpPr/>
            <p:nvPr/>
          </p:nvGrpSpPr>
          <p:grpSpPr>
            <a:xfrm>
              <a:off x="285750" y="142875"/>
              <a:ext cx="1524000" cy="2857500"/>
              <a:chOff x="0" y="0"/>
              <a:chExt cx="1524000" cy="2857500"/>
            </a:xfrm>
          </p:grpSpPr>
          <p:sp>
            <p:nvSpPr>
              <p:cNvPr id="800" name="Google Shape;800;p58"/>
              <p:cNvSpPr/>
              <p:nvPr/>
            </p:nvSpPr>
            <p:spPr>
              <a:xfrm>
                <a:off x="0" y="0"/>
                <a:ext cx="1524000" cy="2857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58"/>
              <p:cNvSpPr txBox="1"/>
              <p:nvPr/>
            </p:nvSpPr>
            <p:spPr>
              <a:xfrm>
                <a:off x="0" y="0"/>
                <a:ext cx="15240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2800">
                    <a:solidFill>
                      <a:srgbClr val="DEFF9A"/>
                    </a:solidFill>
                    <a:latin typeface="Urbanist ExtraBold"/>
                    <a:ea typeface="Urbanist ExtraBold"/>
                    <a:cs typeface="Urbanist ExtraBold"/>
                    <a:sym typeface="Urbanist ExtraBold"/>
                  </a:rPr>
                  <a:t>03</a:t>
                </a:r>
                <a:endParaRPr b="0" sz="2800">
                  <a:solidFill>
                    <a:srgbClr val="DEFF9A"/>
                  </a:solidFill>
                  <a:latin typeface="Urbanist ExtraBold"/>
                  <a:ea typeface="Urbanist ExtraBold"/>
                  <a:cs typeface="Urbanist ExtraBold"/>
                  <a:sym typeface="Urbanist ExtraBold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V2X Transceivers</a:t>
                </a:r>
                <a:endParaRPr b="1" sz="13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B0B0B0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Broadcast risk-tier and collision-confidence data straight to equipped vehicles, and feed vehicle telemetry back into the risk engine.</a:t>
                </a:r>
                <a:endParaRPr b="0" sz="100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</p:grpSp>
      <p:grpSp>
        <p:nvGrpSpPr>
          <p:cNvPr id="802" name="Google Shape;802;p58"/>
          <p:cNvGrpSpPr/>
          <p:nvPr/>
        </p:nvGrpSpPr>
        <p:grpSpPr>
          <a:xfrm>
            <a:off x="6667500" y="1143000"/>
            <a:ext cx="1952700" cy="3143400"/>
            <a:chOff x="0" y="0"/>
            <a:chExt cx="1952700" cy="3143400"/>
          </a:xfrm>
        </p:grpSpPr>
        <p:sp>
          <p:nvSpPr>
            <p:cNvPr id="803" name="Google Shape;803;p58"/>
            <p:cNvSpPr/>
            <p:nvPr/>
          </p:nvSpPr>
          <p:spPr>
            <a:xfrm>
              <a:off x="0" y="0"/>
              <a:ext cx="1952700" cy="3143400"/>
            </a:xfrm>
            <a:prstGeom prst="roundRect">
              <a:avLst>
                <a:gd fmla="val 5853" name="adj"/>
              </a:avLst>
            </a:prstGeom>
            <a:solidFill>
              <a:srgbClr val="0A0A0A"/>
            </a:solidFill>
            <a:ln cap="flat" cmpd="sng" w="14300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58"/>
            <p:cNvSpPr/>
            <p:nvPr/>
          </p:nvSpPr>
          <p:spPr>
            <a:xfrm>
              <a:off x="142875" y="17145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DEFF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05" name="Google Shape;805;p58"/>
            <p:cNvGrpSpPr/>
            <p:nvPr/>
          </p:nvGrpSpPr>
          <p:grpSpPr>
            <a:xfrm>
              <a:off x="285750" y="142875"/>
              <a:ext cx="1524000" cy="2857500"/>
              <a:chOff x="0" y="0"/>
              <a:chExt cx="1524000" cy="2857500"/>
            </a:xfrm>
          </p:grpSpPr>
          <p:sp>
            <p:nvSpPr>
              <p:cNvPr id="806" name="Google Shape;806;p58"/>
              <p:cNvSpPr/>
              <p:nvPr/>
            </p:nvSpPr>
            <p:spPr>
              <a:xfrm>
                <a:off x="0" y="0"/>
                <a:ext cx="1524000" cy="2857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58"/>
              <p:cNvSpPr txBox="1"/>
              <p:nvPr/>
            </p:nvSpPr>
            <p:spPr>
              <a:xfrm>
                <a:off x="0" y="0"/>
                <a:ext cx="15240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2800">
                    <a:solidFill>
                      <a:srgbClr val="DEFF9A"/>
                    </a:solidFill>
                    <a:latin typeface="Urbanist ExtraBold"/>
                    <a:ea typeface="Urbanist ExtraBold"/>
                    <a:cs typeface="Urbanist ExtraBold"/>
                    <a:sym typeface="Urbanist ExtraBold"/>
                  </a:rPr>
                  <a:t>04</a:t>
                </a:r>
                <a:endParaRPr b="0" sz="2800">
                  <a:solidFill>
                    <a:srgbClr val="DEFF9A"/>
                  </a:solidFill>
                  <a:latin typeface="Urbanist ExtraBold"/>
                  <a:ea typeface="Urbanist ExtraBold"/>
                  <a:cs typeface="Urbanist ExtraBold"/>
                  <a:sym typeface="Urbanist ExtraBold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Ambulance Routing</a:t>
                </a:r>
                <a:endParaRPr b="1" sz="13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B0B0B0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Make the Response Planner's ETA live — routing ambulances around congestion and high-risk zones in real time.</a:t>
                </a:r>
                <a:endParaRPr b="0" sz="1000">
                  <a:solidFill>
                    <a:srgbClr val="B0B0B0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</p:grpSp>
      <p:cxnSp>
        <p:nvCxnSpPr>
          <p:cNvPr id="808" name="Google Shape;808;p5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9" name="Google Shape;809;p5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58"/>
          <p:cNvSpPr/>
          <p:nvPr/>
        </p:nvSpPr>
        <p:spPr>
          <a:xfrm>
            <a:off x="4618949" y="4838995"/>
            <a:ext cx="45900" cy="4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